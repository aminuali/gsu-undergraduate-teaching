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64" r:id="rId2"/>
    <p:sldId id="321" r:id="rId3"/>
    <p:sldId id="325" r:id="rId4"/>
    <p:sldId id="328" r:id="rId5"/>
    <p:sldId id="329" r:id="rId6"/>
    <p:sldId id="257" r:id="rId7"/>
    <p:sldId id="324" r:id="rId8"/>
    <p:sldId id="265" r:id="rId9"/>
    <p:sldId id="269" r:id="rId10"/>
    <p:sldId id="270" r:id="rId11"/>
    <p:sldId id="271" r:id="rId12"/>
    <p:sldId id="272" r:id="rId13"/>
    <p:sldId id="273" r:id="rId14"/>
    <p:sldId id="276" r:id="rId15"/>
    <p:sldId id="274" r:id="rId16"/>
    <p:sldId id="282" r:id="rId17"/>
    <p:sldId id="283" r:id="rId18"/>
    <p:sldId id="284" r:id="rId19"/>
    <p:sldId id="285" r:id="rId20"/>
    <p:sldId id="286" r:id="rId21"/>
    <p:sldId id="316" r:id="rId22"/>
    <p:sldId id="277" r:id="rId23"/>
    <p:sldId id="278" r:id="rId24"/>
    <p:sldId id="279" r:id="rId25"/>
    <p:sldId id="326" r:id="rId26"/>
    <p:sldId id="318" r:id="rId27"/>
    <p:sldId id="291" r:id="rId28"/>
    <p:sldId id="292" r:id="rId29"/>
    <p:sldId id="293" r:id="rId30"/>
    <p:sldId id="308" r:id="rId31"/>
    <p:sldId id="309" r:id="rId32"/>
    <p:sldId id="294" r:id="rId33"/>
    <p:sldId id="295" r:id="rId34"/>
    <p:sldId id="296" r:id="rId35"/>
    <p:sldId id="297" r:id="rId36"/>
    <p:sldId id="298" r:id="rId37"/>
    <p:sldId id="299" r:id="rId38"/>
    <p:sldId id="311" r:id="rId39"/>
    <p:sldId id="300" r:id="rId40"/>
    <p:sldId id="301" r:id="rId41"/>
    <p:sldId id="312" r:id="rId42"/>
    <p:sldId id="302" r:id="rId43"/>
    <p:sldId id="303" r:id="rId44"/>
    <p:sldId id="304" r:id="rId45"/>
    <p:sldId id="305" r:id="rId46"/>
    <p:sldId id="306" r:id="rId47"/>
    <p:sldId id="307" r:id="rId48"/>
    <p:sldId id="287" r:id="rId49"/>
    <p:sldId id="314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121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20B1D2-4826-4A14-8C1B-1704FFC1B27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E4CB9-1999-43A7-8BD3-907BF3B24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0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CE4CB9-1999-43A7-8BD3-907BF3B24DB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1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CSC309: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246" y="3886200"/>
            <a:ext cx="8077954" cy="1752600"/>
          </a:xfrm>
        </p:spPr>
        <p:txBody>
          <a:bodyPr>
            <a:normAutofit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</a:rPr>
              <a:t>Ali Ahmad </a:t>
            </a:r>
            <a:r>
              <a:rPr lang="en-US" sz="2400" dirty="0" err="1">
                <a:solidFill>
                  <a:schemeClr val="tx1"/>
                </a:solidFill>
              </a:rPr>
              <a:t>Aminu</a:t>
            </a:r>
            <a:r>
              <a:rPr lang="en-US" sz="2400" dirty="0">
                <a:solidFill>
                  <a:schemeClr val="tx1"/>
                </a:solidFill>
              </a:rPr>
              <a:t>, PhD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Computer Science Department, </a:t>
            </a:r>
            <a:r>
              <a:rPr lang="en-US" sz="2400" dirty="0" err="1">
                <a:solidFill>
                  <a:schemeClr val="tx1"/>
                </a:solidFill>
              </a:rPr>
              <a:t>Gombe</a:t>
            </a:r>
            <a:r>
              <a:rPr lang="en-US" sz="2400" dirty="0">
                <a:solidFill>
                  <a:schemeClr val="tx1"/>
                </a:solidFill>
              </a:rPr>
              <a:t> State University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</a:rPr>
              <a:t>2025/2026 Session</a:t>
            </a:r>
          </a:p>
        </p:txBody>
      </p:sp>
    </p:spTree>
    <p:extLst>
      <p:ext uri="{BB962C8B-B14F-4D97-AF65-F5344CB8AC3E}">
        <p14:creationId xmlns:p14="http://schemas.microsoft.com/office/powerpoint/2010/main" val="229884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Course Content/Lecture Schedule/Course Books  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Course Syllabus </a:t>
            </a:r>
          </a:p>
          <a:p>
            <a:pPr lvl="1"/>
            <a:r>
              <a:rPr lang="en-US" dirty="0"/>
              <a:t>Overview of Artificial Intelligence (AI)</a:t>
            </a:r>
          </a:p>
          <a:p>
            <a:pPr lvl="1"/>
            <a:r>
              <a:rPr lang="en-US" dirty="0"/>
              <a:t>Intelligent Agents</a:t>
            </a:r>
          </a:p>
          <a:p>
            <a:pPr lvl="1"/>
            <a:r>
              <a:rPr lang="en-US" dirty="0"/>
              <a:t>Search  </a:t>
            </a:r>
          </a:p>
          <a:p>
            <a:pPr lvl="1"/>
            <a:r>
              <a:rPr lang="en-US" dirty="0"/>
              <a:t>Problems and Techniques in AI</a:t>
            </a:r>
          </a:p>
          <a:p>
            <a:pPr lvl="1"/>
            <a:r>
              <a:rPr lang="en-US" dirty="0"/>
              <a:t>Knowledge Representation </a:t>
            </a:r>
          </a:p>
          <a:p>
            <a:pPr lvl="1"/>
            <a:r>
              <a:rPr lang="en-US" dirty="0"/>
              <a:t>Natural Language Processing </a:t>
            </a:r>
          </a:p>
          <a:p>
            <a:pPr lvl="1"/>
            <a:r>
              <a:rPr lang="en-US" dirty="0"/>
              <a:t>Expert Systems </a:t>
            </a:r>
          </a:p>
          <a:p>
            <a:pPr lvl="1"/>
            <a:r>
              <a:rPr lang="en-US" dirty="0"/>
              <a:t>Programming Languages for AI</a:t>
            </a:r>
          </a:p>
          <a:p>
            <a:pPr lvl="1"/>
            <a:r>
              <a:rPr lang="en-US" dirty="0"/>
              <a:t>Computer Image Recognition </a:t>
            </a:r>
          </a:p>
          <a:p>
            <a:pPr lvl="1"/>
            <a:endParaRPr lang="en-US" dirty="0"/>
          </a:p>
          <a:p>
            <a:r>
              <a:rPr lang="en-US" dirty="0"/>
              <a:t>Lecture Schedules  </a:t>
            </a:r>
          </a:p>
          <a:p>
            <a:pPr lvl="1"/>
            <a:r>
              <a:rPr lang="en-US" dirty="0"/>
              <a:t> Wednesdays: 8AM  – 10AM </a:t>
            </a:r>
          </a:p>
          <a:p>
            <a:r>
              <a:rPr lang="en-US" dirty="0"/>
              <a:t>Course Books</a:t>
            </a:r>
          </a:p>
          <a:p>
            <a:pPr lvl="1"/>
            <a:r>
              <a:rPr lang="en-US" dirty="0"/>
              <a:t>Artificial Intelligence Illuminated - </a:t>
            </a:r>
            <a:r>
              <a:rPr lang="en-US" b="1" dirty="0"/>
              <a:t> Ben Coppin</a:t>
            </a:r>
          </a:p>
          <a:p>
            <a:pPr lvl="1"/>
            <a:r>
              <a:rPr lang="en-US" dirty="0"/>
              <a:t>Artificial Intelligence: A Modern Approach - </a:t>
            </a:r>
            <a:r>
              <a:rPr lang="en-US" b="1" dirty="0"/>
              <a:t>Stuart Russell and Peter </a:t>
            </a:r>
            <a:r>
              <a:rPr lang="en-US" b="1" dirty="0" err="1"/>
              <a:t>Norvig</a:t>
            </a:r>
            <a:endParaRPr lang="en-US" b="1" dirty="0"/>
          </a:p>
          <a:p>
            <a:pPr lvl="1"/>
            <a:endParaRPr lang="en-US" b="1" dirty="0"/>
          </a:p>
          <a:p>
            <a:pPr eaLnBrk="1" hangingPunct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857250" indent="-171450">
              <a:spcBef>
                <a:spcPct val="20000"/>
              </a:spcBef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A7885A-0864-42ED-BD33-9F4A15C22570}" type="slidenum">
              <a:rPr lang="en-US" sz="105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84234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4000" dirty="0"/>
              <a:t>This course will be graded as follows: </a:t>
            </a:r>
          </a:p>
          <a:p>
            <a:pPr lvl="1"/>
            <a:r>
              <a:rPr lang="en-US" sz="4000" dirty="0"/>
              <a:t> Attendance:  05%</a:t>
            </a:r>
          </a:p>
          <a:p>
            <a:pPr lvl="1"/>
            <a:r>
              <a:rPr lang="en-US" sz="4000" dirty="0"/>
              <a:t> Mini Project : 20%</a:t>
            </a:r>
          </a:p>
          <a:p>
            <a:pPr lvl="1"/>
            <a:r>
              <a:rPr lang="en-US" sz="4000" dirty="0"/>
              <a:t> Test: 15%</a:t>
            </a:r>
          </a:p>
          <a:p>
            <a:pPr lvl="1"/>
            <a:r>
              <a:rPr lang="en-US" sz="4000" dirty="0"/>
              <a:t> Final Exam: 60%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38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684B-83AF-B3B5-048E-9885FBB6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Mini Project : 20%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1C72-C9A0-22AC-2EF2-479325CF7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6400" b="1" dirty="0"/>
              <a:t>CSC 309 Mini Project</a:t>
            </a:r>
          </a:p>
          <a:p>
            <a:pPr lvl="1"/>
            <a:r>
              <a:rPr lang="en-US" sz="6400" dirty="0"/>
              <a:t>Students are required to complete a </a:t>
            </a:r>
            <a:r>
              <a:rPr lang="en-US" sz="6400" b="1" dirty="0"/>
              <a:t>mini project</a:t>
            </a:r>
            <a:r>
              <a:rPr lang="en-US" sz="6400" dirty="0"/>
              <a:t> as part of the CSC 309 course.</a:t>
            </a:r>
          </a:p>
          <a:p>
            <a:pPr lvl="1"/>
            <a:r>
              <a:rPr lang="en-US" sz="6400" dirty="0"/>
              <a:t>Each student must select </a:t>
            </a:r>
            <a:r>
              <a:rPr lang="en-US" sz="6400" b="1" dirty="0"/>
              <a:t>one topic</a:t>
            </a:r>
            <a:r>
              <a:rPr lang="en-US" sz="6400" dirty="0"/>
              <a:t> from the list below and develop a simple </a:t>
            </a:r>
            <a:r>
              <a:rPr lang="en-US" sz="6400" b="1" dirty="0"/>
              <a:t>AI-based system</a:t>
            </a:r>
            <a:r>
              <a:rPr lang="en-US" sz="6400" dirty="0"/>
              <a:t> related to the chosen topic.</a:t>
            </a:r>
          </a:p>
          <a:p>
            <a:pPr lvl="1"/>
            <a:endParaRPr lang="en-US" sz="6400" dirty="0"/>
          </a:p>
          <a:p>
            <a:r>
              <a:rPr lang="en-US" sz="6400" b="1" dirty="0"/>
              <a:t>Important: </a:t>
            </a:r>
          </a:p>
          <a:p>
            <a:pPr lvl="1"/>
            <a:r>
              <a:rPr lang="en-US" sz="6400" b="1" dirty="0"/>
              <a:t>No two students are allowed to submit the same project.</a:t>
            </a:r>
            <a:endParaRPr lang="en-US" sz="6400" dirty="0"/>
          </a:p>
          <a:p>
            <a:pPr lvl="1"/>
            <a:r>
              <a:rPr lang="en-US" sz="6400" dirty="0"/>
              <a:t> Students can work on the same topic but on a different problem.</a:t>
            </a:r>
          </a:p>
          <a:p>
            <a:endParaRPr lang="en-US" sz="6400" dirty="0"/>
          </a:p>
          <a:p>
            <a:r>
              <a:rPr lang="en-US" sz="6400" b="1" dirty="0"/>
              <a:t>Mini Project Topics</a:t>
            </a:r>
            <a:endParaRPr lang="en-US" sz="6400" dirty="0"/>
          </a:p>
          <a:p>
            <a:pPr lvl="1"/>
            <a:r>
              <a:rPr lang="en-US" sz="6400" b="1" dirty="0"/>
              <a:t>1. Question Answering Chatbot</a:t>
            </a:r>
            <a:r>
              <a:rPr lang="en-US" sz="6400" dirty="0"/>
              <a:t> – Develop a chatbot that can answer user questions based on predefined knowledge or a dataset.</a:t>
            </a:r>
          </a:p>
          <a:p>
            <a:pPr lvl="1"/>
            <a:r>
              <a:rPr lang="en-US" sz="6400" b="1" dirty="0"/>
              <a:t>2. Spam Detection System</a:t>
            </a:r>
            <a:r>
              <a:rPr lang="en-US" sz="6400" dirty="0"/>
              <a:t> – Build a model that classifies messages or emails as spam or not spam.</a:t>
            </a:r>
          </a:p>
          <a:p>
            <a:pPr lvl="1"/>
            <a:r>
              <a:rPr lang="en-US" sz="6400" b="1" dirty="0"/>
              <a:t>3. Sentiment Analysis System</a:t>
            </a:r>
            <a:r>
              <a:rPr lang="en-US" sz="6400" dirty="0"/>
              <a:t> – Create a system that analyzes text and determines whether the sentiment is positive, negative, or neutral.</a:t>
            </a:r>
          </a:p>
          <a:p>
            <a:pPr lvl="1"/>
            <a:r>
              <a:rPr lang="en-US" sz="6400" b="1" dirty="0"/>
              <a:t>4. Machine Translation System</a:t>
            </a:r>
            <a:r>
              <a:rPr lang="en-US" sz="6400" dirty="0"/>
              <a:t> – Develop a simple system that translates text from one language to another.</a:t>
            </a:r>
          </a:p>
          <a:p>
            <a:pPr lvl="1"/>
            <a:r>
              <a:rPr lang="en-US" sz="6400" b="1" dirty="0"/>
              <a:t>5. Speech Recognition System</a:t>
            </a:r>
            <a:r>
              <a:rPr lang="en-US" sz="6400" dirty="0"/>
              <a:t> – Implement a system that converts spoken words into 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73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082C-80EA-5080-FF11-238F68E6C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Mini Project: 20%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59471-BA1E-30E7-A9DA-786BC63A0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Mini Project Deliverables</a:t>
            </a:r>
          </a:p>
          <a:p>
            <a:pPr lvl="1"/>
            <a:r>
              <a:rPr lang="en-US" dirty="0"/>
              <a:t>Each student must submit the following:</a:t>
            </a:r>
          </a:p>
          <a:p>
            <a:pPr lvl="1"/>
            <a:r>
              <a:rPr lang="en-US" dirty="0"/>
              <a:t>1. A </a:t>
            </a:r>
            <a:r>
              <a:rPr lang="en-US" b="1" dirty="0"/>
              <a:t>working system/application</a:t>
            </a:r>
            <a:endParaRPr lang="en-US" dirty="0"/>
          </a:p>
          <a:p>
            <a:pPr lvl="1"/>
            <a:r>
              <a:rPr lang="en-US" b="1" dirty="0"/>
              <a:t>2. Sample outputs</a:t>
            </a:r>
            <a:r>
              <a:rPr lang="en-US" dirty="0"/>
              <a:t> demonstrating the functionality of the system</a:t>
            </a:r>
          </a:p>
          <a:p>
            <a:pPr lvl="1"/>
            <a:r>
              <a:rPr lang="en-US" b="1" dirty="0"/>
              <a:t>3. </a:t>
            </a:r>
          </a:p>
          <a:p>
            <a:pPr lvl="1"/>
            <a:r>
              <a:rPr lang="en-US" b="1" dirty="0"/>
              <a:t> </a:t>
            </a:r>
          </a:p>
          <a:p>
            <a:pPr lvl="1"/>
            <a:r>
              <a:rPr lang="en-US" b="1" dirty="0"/>
              <a:t>System documentation</a:t>
            </a:r>
            <a:r>
              <a:rPr lang="en-US" dirty="0"/>
              <a:t> explaining:</a:t>
            </a:r>
          </a:p>
          <a:p>
            <a:pPr lvl="2"/>
            <a:r>
              <a:rPr lang="en-US" dirty="0"/>
              <a:t>Project objective</a:t>
            </a:r>
          </a:p>
          <a:p>
            <a:pPr lvl="2"/>
            <a:r>
              <a:rPr lang="en-US" dirty="0"/>
              <a:t>Method used</a:t>
            </a:r>
          </a:p>
          <a:p>
            <a:pPr lvl="2"/>
            <a:r>
              <a:rPr lang="en-US" dirty="0"/>
              <a:t>Tools or programming language used</a:t>
            </a:r>
          </a:p>
          <a:p>
            <a:pPr lvl="2"/>
            <a:r>
              <a:rPr lang="en-US" dirty="0"/>
              <a:t>Results and screenshots</a:t>
            </a:r>
          </a:p>
          <a:p>
            <a:r>
              <a:rPr lang="en-US" b="1" dirty="0"/>
              <a:t>Project Due Date</a:t>
            </a:r>
          </a:p>
          <a:p>
            <a:r>
              <a:rPr lang="en-US" dirty="0"/>
              <a:t>The </a:t>
            </a:r>
            <a:r>
              <a:rPr lang="en-US" b="1" dirty="0"/>
              <a:t>submission deadline will be announced soon.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67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Outline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lang="en-US" dirty="0"/>
              <a:t>Introduction</a:t>
            </a:r>
          </a:p>
          <a:p>
            <a:r>
              <a:rPr lang="en-US" dirty="0"/>
              <a:t>Definition of Artificial Intelligence (AI)</a:t>
            </a:r>
          </a:p>
          <a:p>
            <a:r>
              <a:rPr lang="en-US" dirty="0"/>
              <a:t>Types of AI</a:t>
            </a:r>
          </a:p>
          <a:p>
            <a:r>
              <a:rPr lang="en-US" dirty="0"/>
              <a:t>Turing Test</a:t>
            </a:r>
          </a:p>
          <a:p>
            <a:r>
              <a:rPr lang="en-US" dirty="0"/>
              <a:t>History of AI</a:t>
            </a:r>
          </a:p>
          <a:p>
            <a:r>
              <a:rPr lang="en-US" dirty="0"/>
              <a:t>Branches of AI</a:t>
            </a:r>
          </a:p>
          <a:p>
            <a:r>
              <a:rPr lang="en-US" dirty="0"/>
              <a:t>Applications of AI </a:t>
            </a:r>
          </a:p>
          <a:p>
            <a:r>
              <a:rPr lang="en-US" dirty="0"/>
              <a:t>Advantages and Disadvantages of AI</a:t>
            </a:r>
          </a:p>
          <a:p>
            <a:r>
              <a:rPr lang="en-US" dirty="0"/>
              <a:t>Intelligent Agent</a:t>
            </a:r>
          </a:p>
          <a:p>
            <a:r>
              <a:rPr lang="en-US" dirty="0"/>
              <a:t>Types of Agent</a:t>
            </a:r>
          </a:p>
          <a:p>
            <a:r>
              <a:rPr lang="en-US" dirty="0"/>
              <a:t>Structure of Intelligent Agent</a:t>
            </a:r>
          </a:p>
          <a:p>
            <a:r>
              <a:rPr lang="en-US" dirty="0"/>
              <a:t>Agent’s environment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What is Intelligence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00553" cy="4525963"/>
          </a:xfrm>
        </p:spPr>
        <p:txBody>
          <a:bodyPr>
            <a:normAutofit/>
          </a:bodyPr>
          <a:lstStyle/>
          <a:p>
            <a:r>
              <a:rPr lang="en-US" sz="2800" dirty="0"/>
              <a:t>What is Intelligence ?</a:t>
            </a:r>
          </a:p>
          <a:p>
            <a:r>
              <a:rPr lang="en-US" sz="2800" b="1" dirty="0"/>
              <a:t>Webster’s Dictionary </a:t>
            </a:r>
            <a:r>
              <a:rPr lang="en-US" sz="2800" dirty="0"/>
              <a:t>– “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learn and solve problems</a:t>
            </a:r>
            <a:r>
              <a:rPr lang="en-US" sz="2800" dirty="0"/>
              <a:t>” </a:t>
            </a:r>
          </a:p>
          <a:p>
            <a:r>
              <a:rPr lang="en-US" sz="2800" b="1" dirty="0"/>
              <a:t>Ben Coppin </a:t>
            </a:r>
            <a:r>
              <a:rPr lang="en-US" sz="2800" dirty="0"/>
              <a:t>– “An ability to deal with new situations ”</a:t>
            </a:r>
          </a:p>
          <a:p>
            <a:pPr lvl="1"/>
            <a:r>
              <a:rPr lang="en-US" dirty="0"/>
              <a:t>The ability to solve problems</a:t>
            </a:r>
          </a:p>
          <a:p>
            <a:pPr lvl="1"/>
            <a:r>
              <a:rPr lang="en-US" dirty="0"/>
              <a:t>The ability to answer questions</a:t>
            </a:r>
          </a:p>
          <a:p>
            <a:pPr lvl="1"/>
            <a:r>
              <a:rPr lang="en-US" dirty="0"/>
              <a:t>The ability to devise plans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,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23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Week 1 </a:t>
            </a:r>
            <a:r>
              <a:rPr sz="3200" dirty="0"/>
              <a:t>: What is</a:t>
            </a:r>
            <a:r>
              <a:rPr lang="en-US" sz="3200" dirty="0"/>
              <a:t> Artificial Intelligence (</a:t>
            </a:r>
            <a:r>
              <a:rPr sz="3200" dirty="0"/>
              <a:t>AI</a:t>
            </a:r>
            <a:r>
              <a:rPr lang="en-US" sz="3200" dirty="0"/>
              <a:t>)</a:t>
            </a:r>
            <a:r>
              <a:rPr sz="3200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9608"/>
            <a:ext cx="8229600" cy="4816556"/>
          </a:xfrm>
        </p:spPr>
        <p:txBody>
          <a:bodyPr>
            <a:normAutofit fontScale="47500" lnSpcReduction="20000"/>
          </a:bodyPr>
          <a:lstStyle/>
          <a:p>
            <a:endParaRPr dirty="0"/>
          </a:p>
          <a:p>
            <a:r>
              <a:rPr lang="en-US" sz="4500" dirty="0"/>
              <a:t>Can machines think ?</a:t>
            </a:r>
          </a:p>
          <a:p>
            <a:pPr lvl="1" algn="just"/>
            <a:r>
              <a:rPr lang="en-US" sz="4500" dirty="0"/>
              <a:t>A question raised by British Computer Scientist Alan Turing at the beginning of the 1950s.</a:t>
            </a:r>
          </a:p>
          <a:p>
            <a:pPr lvl="1" algn="just"/>
            <a:r>
              <a:rPr lang="en-US" sz="4500" dirty="0"/>
              <a:t>This question triggered curiosity about intelligent machines, leading to the creation of modern technologies that can listen, interpret, and respond to human commands.</a:t>
            </a:r>
          </a:p>
          <a:p>
            <a:pPr algn="just"/>
            <a:r>
              <a:rPr lang="en-US" sz="4500" dirty="0"/>
              <a:t>AI is a branch of Computer science dealing with computers or machines that imitate human intelligence</a:t>
            </a:r>
          </a:p>
          <a:p>
            <a:pPr algn="just"/>
            <a:r>
              <a:rPr lang="en-US" sz="4500" dirty="0"/>
              <a:t>AI definition by some experts</a:t>
            </a:r>
          </a:p>
          <a:p>
            <a:pPr lvl="1"/>
            <a:r>
              <a:rPr lang="en-US" sz="4500" b="1" dirty="0"/>
              <a:t>John McCarthy (1955):</a:t>
            </a:r>
            <a:r>
              <a:rPr lang="en-US" sz="4500" dirty="0"/>
              <a:t> "The science and engineering of making intelligent machines, especially intelligent computer program"</a:t>
            </a:r>
          </a:p>
          <a:p>
            <a:pPr lvl="1" algn="just"/>
            <a:r>
              <a:rPr lang="en-US" sz="4500" b="1" dirty="0"/>
              <a:t>Russell &amp; </a:t>
            </a:r>
            <a:r>
              <a:rPr lang="en-US" sz="4500" b="1" dirty="0" err="1"/>
              <a:t>Norvig</a:t>
            </a:r>
            <a:r>
              <a:rPr lang="en-US" sz="4500" b="1" dirty="0"/>
              <a:t> (2010):</a:t>
            </a:r>
            <a:r>
              <a:rPr lang="en-US" sz="4500" dirty="0"/>
              <a:t> “</a:t>
            </a:r>
            <a:r>
              <a:rPr lang="en-US" sz="4800" dirty="0"/>
              <a:t>The study and design of intelligent agents, where an agent is a system that perceives it environment and takes action that maximizes its chances of success.” </a:t>
            </a:r>
            <a:endParaRPr lang="en-US" sz="4500" dirty="0"/>
          </a:p>
          <a:p>
            <a:pPr marL="457200" lvl="1" indent="0">
              <a:buNone/>
            </a:pPr>
            <a:endParaRPr lang="en-US" sz="4500" dirty="0"/>
          </a:p>
        </p:txBody>
      </p:sp>
    </p:spTree>
    <p:extLst>
      <p:ext uri="{BB962C8B-B14F-4D97-AF65-F5344CB8AC3E}">
        <p14:creationId xmlns:p14="http://schemas.microsoft.com/office/powerpoint/2010/main" val="3465335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Why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endParaRPr lang="en-US" sz="2800" dirty="0">
              <a:solidFill>
                <a:srgbClr val="C00000"/>
              </a:solidFill>
            </a:endParaRPr>
          </a:p>
          <a:p>
            <a:pPr algn="just"/>
            <a:r>
              <a:rPr lang="en-US" sz="2800" i="1" dirty="0">
                <a:solidFill>
                  <a:srgbClr val="C00000"/>
                </a:solidFill>
              </a:rPr>
              <a:t>Andrew Ng </a:t>
            </a:r>
            <a:r>
              <a:rPr lang="en-US" sz="2800" dirty="0"/>
              <a:t>said, “Just as the industrial revolution freed up a lot of humanity from physical labor, I think AI has the potential to free up humanity from a lot of mental labor”</a:t>
            </a:r>
          </a:p>
          <a:p>
            <a:pPr algn="just"/>
            <a:r>
              <a:rPr lang="en-US" sz="2800" dirty="0"/>
              <a:t>The development of AI is driven by the need to automate tasks that are </a:t>
            </a:r>
            <a:r>
              <a:rPr lang="en-US" sz="2800" b="1" dirty="0"/>
              <a:t>time-consuming</a:t>
            </a:r>
            <a:r>
              <a:rPr lang="en-US" sz="2800" dirty="0"/>
              <a:t>, </a:t>
            </a:r>
            <a:r>
              <a:rPr lang="en-US" sz="2800" b="1" dirty="0"/>
              <a:t>repetitive</a:t>
            </a:r>
            <a:r>
              <a:rPr lang="en-US" sz="2800" dirty="0"/>
              <a:t>, or </a:t>
            </a:r>
            <a:r>
              <a:rPr lang="en-US" sz="2800" b="1" dirty="0"/>
              <a:t>dangerous</a:t>
            </a:r>
            <a:r>
              <a:rPr lang="en-US" sz="2800" dirty="0"/>
              <a:t> for humans. </a:t>
            </a:r>
          </a:p>
          <a:p>
            <a:pPr algn="just"/>
            <a:r>
              <a:rPr lang="en-US" sz="2800" dirty="0"/>
              <a:t>AI has already proven useful in several areas, such as healthcare, finance, manufacturing, and transportation.</a:t>
            </a:r>
          </a:p>
          <a:p>
            <a:pPr algn="just"/>
            <a:r>
              <a:rPr lang="en-US" sz="2800" dirty="0"/>
              <a:t> It has the potential to revolutionize many other fields, such as education, agriculture, and entertainment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3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Goals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4000" dirty="0"/>
              <a:t>The primary goals of AI are to: </a:t>
            </a:r>
          </a:p>
          <a:p>
            <a:pPr lvl="1" algn="just"/>
            <a:r>
              <a:rPr lang="en-US" b="1" dirty="0"/>
              <a:t>To enhance human capabilities</a:t>
            </a:r>
            <a:r>
              <a:rPr lang="en-US" dirty="0"/>
              <a:t>:</a:t>
            </a:r>
            <a:r>
              <a:rPr lang="en-US" b="1" dirty="0"/>
              <a:t> </a:t>
            </a:r>
            <a:r>
              <a:rPr lang="en-US" dirty="0"/>
              <a:t>AI can help humans perform tasks more efficiently and effectively</a:t>
            </a:r>
          </a:p>
          <a:p>
            <a:pPr lvl="1" algn="just"/>
            <a:r>
              <a:rPr lang="en-US" dirty="0"/>
              <a:t> </a:t>
            </a:r>
            <a:r>
              <a:rPr lang="en-US" b="1" dirty="0"/>
              <a:t>Solve complex problems: </a:t>
            </a:r>
            <a:r>
              <a:rPr lang="en-US" dirty="0"/>
              <a:t>AI can analyze large amounts of data to solve complex problems that would be impossible for humans to solve alone.</a:t>
            </a:r>
          </a:p>
          <a:p>
            <a:pPr lvl="1" algn="just"/>
            <a:r>
              <a:rPr lang="en-US" dirty="0"/>
              <a:t> </a:t>
            </a:r>
            <a:r>
              <a:rPr lang="en-US" b="1" dirty="0"/>
              <a:t>Create intelligent machines: </a:t>
            </a:r>
            <a:r>
              <a:rPr lang="en-US" dirty="0"/>
              <a:t>The ultimate goal of AI is to create machines that can perform any intellectual task that a human can i.e.</a:t>
            </a:r>
            <a:r>
              <a:rPr lang="en-US" b="1" dirty="0"/>
              <a:t> </a:t>
            </a:r>
            <a:r>
              <a:rPr lang="en-US" dirty="0"/>
              <a:t>creating systems that understand, think, learn, and behave like humans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45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Types/Stages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AI can be classified into three types or stages</a:t>
            </a:r>
          </a:p>
          <a:p>
            <a:pPr lvl="1"/>
            <a:r>
              <a:rPr lang="en-US" dirty="0"/>
              <a:t>Weak Artificial Intelligence</a:t>
            </a:r>
          </a:p>
          <a:p>
            <a:pPr lvl="2"/>
            <a:r>
              <a:rPr lang="en-US" dirty="0"/>
              <a:t>The weak AI is also called Artificial Narrow Intelligence (ANI)</a:t>
            </a:r>
          </a:p>
          <a:p>
            <a:pPr lvl="2"/>
            <a:r>
              <a:rPr lang="en-US" dirty="0"/>
              <a:t>ANI is the most successful realized form of AI</a:t>
            </a:r>
          </a:p>
          <a:p>
            <a:pPr lvl="2"/>
            <a:r>
              <a:rPr lang="en-US" dirty="0"/>
              <a:t>It is goal oriented and is designed to carryout a single task extremely well</a:t>
            </a:r>
          </a:p>
          <a:p>
            <a:pPr lvl="2"/>
            <a:r>
              <a:rPr lang="en-US" dirty="0"/>
              <a:t>Uses techniques such as NLP, DL and ML to perform their task</a:t>
            </a:r>
          </a:p>
          <a:p>
            <a:pPr lvl="2"/>
            <a:r>
              <a:rPr lang="en-US" dirty="0"/>
              <a:t>Examples </a:t>
            </a:r>
          </a:p>
          <a:p>
            <a:pPr lvl="3"/>
            <a:r>
              <a:rPr lang="en-US" dirty="0"/>
              <a:t>All expert systems that emulate the decision making ability of humans belongs to this category. </a:t>
            </a:r>
          </a:p>
          <a:p>
            <a:pPr lvl="3"/>
            <a:r>
              <a:rPr lang="en-US" dirty="0"/>
              <a:t>SIRI and Alexa (speech recognition/assistant systems)</a:t>
            </a:r>
          </a:p>
        </p:txBody>
      </p:sp>
    </p:spTree>
    <p:extLst>
      <p:ext uri="{BB962C8B-B14F-4D97-AF65-F5344CB8AC3E}">
        <p14:creationId xmlns:p14="http://schemas.microsoft.com/office/powerpoint/2010/main" val="1827512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Types/Stages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dirty="0"/>
              <a:t>Strong AI </a:t>
            </a:r>
          </a:p>
          <a:p>
            <a:pPr lvl="2" algn="just"/>
            <a:r>
              <a:rPr lang="en-US" dirty="0"/>
              <a:t>Strong AI also called Artificial General Intelligence (AGI) is a more advanced form of AI than ANI or weak AI</a:t>
            </a:r>
          </a:p>
          <a:p>
            <a:pPr lvl="2" algn="just"/>
            <a:r>
              <a:rPr lang="en-US" dirty="0"/>
              <a:t>An AGI powered machine can mimic human intelligence and can learn and apply the same in real-time situations or problems</a:t>
            </a:r>
          </a:p>
          <a:p>
            <a:pPr lvl="2" algn="just"/>
            <a:r>
              <a:rPr lang="en-US" dirty="0"/>
              <a:t>AGI systems goes beyond executing singular goal oriented tasks to perform proactive actions</a:t>
            </a:r>
          </a:p>
          <a:p>
            <a:pPr lvl="2"/>
            <a:r>
              <a:rPr lang="en-US" dirty="0"/>
              <a:t>Example</a:t>
            </a:r>
          </a:p>
          <a:p>
            <a:pPr lvl="3" algn="just"/>
            <a:r>
              <a:rPr lang="en-US" dirty="0"/>
              <a:t>Autonomous cars uses multiple sensors systems and control functions simultaneously to successfully drive and avoid accidents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562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Types/Stages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Artificial Super Intelligence (ASI)</a:t>
            </a:r>
          </a:p>
          <a:p>
            <a:pPr lvl="2"/>
            <a:r>
              <a:rPr lang="en-US" dirty="0"/>
              <a:t>ASI is far beyond mimicking or replicating human intelligence</a:t>
            </a:r>
          </a:p>
          <a:p>
            <a:pPr lvl="2"/>
            <a:r>
              <a:rPr lang="en-US" dirty="0"/>
              <a:t>It is the most advanced form of AI </a:t>
            </a:r>
          </a:p>
          <a:p>
            <a:pPr lvl="2" algn="just"/>
            <a:r>
              <a:rPr lang="en-US" dirty="0"/>
              <a:t>An ASI powered machine would be self-aware and could exceed the capacity of human intelligence across a range of areas. </a:t>
            </a:r>
          </a:p>
          <a:p>
            <a:pPr lvl="2" algn="just"/>
            <a:r>
              <a:rPr lang="en-US" dirty="0"/>
              <a:t>The conception of ASI has been a part of science fiction for a long time. However, it is debatable whether such forms of AI could be helpful or could pose a threat to humans</a:t>
            </a:r>
          </a:p>
        </p:txBody>
      </p:sp>
    </p:spTree>
    <p:extLst>
      <p:ext uri="{BB962C8B-B14F-4D97-AF65-F5344CB8AC3E}">
        <p14:creationId xmlns:p14="http://schemas.microsoft.com/office/powerpoint/2010/main" val="2807466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Turing Test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600200"/>
            <a:ext cx="4286573" cy="4525963"/>
          </a:xfrm>
        </p:spPr>
        <p:txBody>
          <a:bodyPr>
            <a:normAutofit fontScale="85000" lnSpcReduction="20000"/>
          </a:bodyPr>
          <a:lstStyle/>
          <a:p>
            <a:pPr algn="just"/>
            <a:endParaRPr lang="en-US" dirty="0"/>
          </a:p>
          <a:p>
            <a:pPr algn="just"/>
            <a:r>
              <a:rPr lang="en-US" dirty="0"/>
              <a:t>Can machines mimic Human Intelligence?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Turing Test, designed by Alan Turing in the 1950s, tried to answer this question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 the test, there are three participants in three separate rooms: an interrogator, a human responder and a computer</a:t>
            </a:r>
          </a:p>
        </p:txBody>
      </p:sp>
      <p:pic>
        <p:nvPicPr>
          <p:cNvPr id="5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53525"/>
            <a:ext cx="4038600" cy="3859078"/>
          </a:xfrm>
        </p:spPr>
      </p:pic>
    </p:spTree>
    <p:extLst>
      <p:ext uri="{BB962C8B-B14F-4D97-AF65-F5344CB8AC3E}">
        <p14:creationId xmlns:p14="http://schemas.microsoft.com/office/powerpoint/2010/main" val="2508097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Turing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Truing</a:t>
            </a:r>
            <a:r>
              <a:rPr lang="en-US" dirty="0"/>
              <a:t> </a:t>
            </a:r>
            <a:r>
              <a:rPr lang="en-US" b="1" dirty="0"/>
              <a:t>Test Process:</a:t>
            </a:r>
            <a:endParaRPr lang="en-US" dirty="0"/>
          </a:p>
          <a:p>
            <a:pPr lvl="1" algn="just"/>
            <a:r>
              <a:rPr lang="en-US" dirty="0"/>
              <a:t>The interrogator quizzes both the human and the AI computer on various topics.</a:t>
            </a:r>
          </a:p>
          <a:p>
            <a:pPr lvl="1"/>
            <a:r>
              <a:rPr lang="en-US" dirty="0"/>
              <a:t>All responses from both participants are recorded.</a:t>
            </a:r>
          </a:p>
          <a:p>
            <a:pPr lvl="1" algn="just"/>
            <a:r>
              <a:rPr lang="en-US" dirty="0"/>
              <a:t>After a set time or number of questions, the interrogator must identify which responses were from the computer and which were from the human.</a:t>
            </a:r>
          </a:p>
          <a:p>
            <a:pPr lvl="0"/>
            <a:r>
              <a:rPr lang="en-US" b="1" dirty="0"/>
              <a:t>Turing Test Criteria</a:t>
            </a:r>
          </a:p>
          <a:p>
            <a:pPr lvl="1"/>
            <a:r>
              <a:rPr lang="en-US" dirty="0"/>
              <a:t>The test is repeated multiple times.</a:t>
            </a:r>
          </a:p>
          <a:p>
            <a:pPr lvl="1" algn="just"/>
            <a:r>
              <a:rPr lang="en-US" dirty="0"/>
              <a:t>If the interrogator makes incorrect identifications more than half of the time, the computer is considered to have artificial intelligence.</a:t>
            </a:r>
          </a:p>
          <a:p>
            <a:r>
              <a:rPr lang="en-US" b="1" dirty="0"/>
              <a:t>Significance:</a:t>
            </a:r>
            <a:endParaRPr lang="en-US" dirty="0"/>
          </a:p>
          <a:p>
            <a:pPr lvl="1"/>
            <a:r>
              <a:rPr lang="en-US" dirty="0"/>
              <a:t>The test is more philosophical than technical.</a:t>
            </a:r>
          </a:p>
          <a:p>
            <a:pPr lvl="1"/>
            <a:r>
              <a:rPr lang="en-US" dirty="0"/>
              <a:t>It introduced the idea that machines could potentially achieve human-like intelligence,  which was a revolutionary concept in the mid-20th century.</a:t>
            </a:r>
          </a:p>
          <a:p>
            <a:pPr lvl="1" algn="just"/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28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75" y="1608589"/>
            <a:ext cx="8643077" cy="4525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Origins of AI (1950s)</a:t>
            </a:r>
          </a:p>
          <a:p>
            <a:pPr lvl="1"/>
            <a:r>
              <a:rPr lang="en-US" b="1" dirty="0"/>
              <a:t>1950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Alan Turing</a:t>
            </a:r>
            <a:r>
              <a:rPr lang="en-US" dirty="0"/>
              <a:t> proposes the </a:t>
            </a:r>
            <a:r>
              <a:rPr lang="en-US" i="1" dirty="0"/>
              <a:t>Turing Test</a:t>
            </a:r>
            <a:r>
              <a:rPr lang="en-US" dirty="0"/>
              <a:t> to evaluate machine intelligence.</a:t>
            </a:r>
          </a:p>
          <a:p>
            <a:pPr lvl="2"/>
            <a:r>
              <a:rPr lang="en-US" b="1" dirty="0"/>
              <a:t>Claude Shannon</a:t>
            </a:r>
            <a:r>
              <a:rPr lang="en-US" dirty="0"/>
              <a:t> theorizes a chess-playing machine.</a:t>
            </a:r>
          </a:p>
          <a:p>
            <a:pPr lvl="2"/>
            <a:r>
              <a:rPr lang="en-US" b="1" dirty="0"/>
              <a:t>Isaac Asimov</a:t>
            </a:r>
            <a:r>
              <a:rPr lang="en-US" dirty="0"/>
              <a:t> formulates the </a:t>
            </a:r>
            <a:r>
              <a:rPr lang="en-US" i="1" dirty="0"/>
              <a:t>Three Laws of Robotics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1951</a:t>
            </a:r>
            <a:r>
              <a:rPr lang="en-US" dirty="0"/>
              <a:t>: First AI program (checkers) runs on the </a:t>
            </a:r>
            <a:r>
              <a:rPr lang="en-US" i="1" dirty="0"/>
              <a:t>Ferranti Mark 1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1952</a:t>
            </a:r>
            <a:r>
              <a:rPr lang="en-US" dirty="0"/>
              <a:t>: </a:t>
            </a:r>
            <a:r>
              <a:rPr lang="en-US" b="1" dirty="0"/>
              <a:t>Arthur Samuel</a:t>
            </a:r>
            <a:r>
              <a:rPr lang="en-US" dirty="0"/>
              <a:t> develops the first self-learning game program (checkers).</a:t>
            </a:r>
          </a:p>
          <a:p>
            <a:pPr lvl="1"/>
            <a:r>
              <a:rPr lang="en-US" b="1" dirty="0"/>
              <a:t>1956</a:t>
            </a:r>
            <a:r>
              <a:rPr lang="en-US" dirty="0"/>
              <a:t>: </a:t>
            </a:r>
            <a:r>
              <a:rPr lang="en-US" b="1" dirty="0"/>
              <a:t>John McCarthy</a:t>
            </a:r>
            <a:r>
              <a:rPr lang="en-US" dirty="0"/>
              <a:t> coins the term </a:t>
            </a:r>
            <a:r>
              <a:rPr lang="en-US" i="1" dirty="0"/>
              <a:t>"Artificial Intelligence"</a:t>
            </a:r>
            <a:r>
              <a:rPr lang="en-US" dirty="0"/>
              <a:t> at the </a:t>
            </a:r>
            <a:r>
              <a:rPr lang="en-US" i="1" dirty="0"/>
              <a:t>Dartmouth Conference</a:t>
            </a:r>
            <a:r>
              <a:rPr lang="en-US" dirty="0"/>
              <a:t> (birth of AI as a field).</a:t>
            </a:r>
          </a:p>
        </p:txBody>
      </p:sp>
    </p:spTree>
    <p:extLst>
      <p:ext uri="{BB962C8B-B14F-4D97-AF65-F5344CB8AC3E}">
        <p14:creationId xmlns:p14="http://schemas.microsoft.com/office/powerpoint/2010/main" val="405405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233" y="1600200"/>
            <a:ext cx="8826285" cy="452596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First AI Cycle (1960s–1970s)</a:t>
            </a:r>
          </a:p>
          <a:p>
            <a:endParaRPr lang="en-US" b="1" dirty="0"/>
          </a:p>
          <a:p>
            <a:pPr lvl="1"/>
            <a:r>
              <a:rPr lang="en-US" b="1" dirty="0"/>
              <a:t>1965</a:t>
            </a:r>
            <a:r>
              <a:rPr lang="en-US" dirty="0"/>
              <a:t>: </a:t>
            </a:r>
            <a:r>
              <a:rPr lang="en-US" b="1" dirty="0" err="1"/>
              <a:t>Lotfi</a:t>
            </a:r>
            <a:r>
              <a:rPr lang="en-US" b="1" dirty="0"/>
              <a:t> </a:t>
            </a:r>
            <a:r>
              <a:rPr lang="en-US" b="1" dirty="0" err="1"/>
              <a:t>Zadeh</a:t>
            </a:r>
            <a:r>
              <a:rPr lang="en-US" dirty="0"/>
              <a:t> introduces </a:t>
            </a:r>
            <a:r>
              <a:rPr lang="en-US" i="1" dirty="0"/>
              <a:t>fuzzy logic</a:t>
            </a:r>
            <a:r>
              <a:rPr lang="en-US" dirty="0"/>
              <a:t> for partial truth reasoning.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1966</a:t>
            </a:r>
            <a:r>
              <a:rPr lang="en-US" dirty="0"/>
              <a:t>: </a:t>
            </a:r>
            <a:r>
              <a:rPr lang="en-US" b="1" dirty="0"/>
              <a:t>Joseph </a:t>
            </a:r>
            <a:r>
              <a:rPr lang="en-US" b="1" dirty="0" err="1"/>
              <a:t>Weizenbaum</a:t>
            </a:r>
            <a:r>
              <a:rPr lang="en-US" dirty="0"/>
              <a:t> creates </a:t>
            </a:r>
            <a:r>
              <a:rPr lang="en-US" i="1" dirty="0"/>
              <a:t>ELIZA</a:t>
            </a:r>
            <a:r>
              <a:rPr lang="en-US" dirty="0"/>
              <a:t>, the first chatbot.  Eliza simulated conversation with humans 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1970s</a:t>
            </a:r>
            <a:r>
              <a:rPr lang="en-US" dirty="0"/>
              <a:t>:</a:t>
            </a:r>
          </a:p>
          <a:p>
            <a:pPr lvl="2" algn="just"/>
            <a:r>
              <a:rPr lang="en-US" b="1" dirty="0"/>
              <a:t>WABOT-1</a:t>
            </a:r>
            <a:r>
              <a:rPr lang="en-US" dirty="0"/>
              <a:t> (Japan), the first full scale humanoid robot, capable of working, gripping objects, and basic communications.</a:t>
            </a:r>
          </a:p>
          <a:p>
            <a:pPr lvl="2" algn="just"/>
            <a:r>
              <a:rPr lang="en-US" b="1" dirty="0"/>
              <a:t>WABOT</a:t>
            </a:r>
            <a:r>
              <a:rPr lang="en-US" dirty="0"/>
              <a:t> project was a major milestone in robotics and AI</a:t>
            </a:r>
          </a:p>
          <a:p>
            <a:pPr marL="914400" lvl="2" indent="0" algn="just">
              <a:buNone/>
            </a:pPr>
            <a:endParaRPr lang="en-US" dirty="0"/>
          </a:p>
          <a:p>
            <a:pPr lvl="2"/>
            <a:r>
              <a:rPr lang="en-US" b="1" dirty="0"/>
              <a:t>AI Winter Begins</a:t>
            </a:r>
            <a:r>
              <a:rPr lang="en-US" dirty="0"/>
              <a:t>: Funding declines due to overpromised results.</a:t>
            </a:r>
          </a:p>
        </p:txBody>
      </p:sp>
    </p:spTree>
    <p:extLst>
      <p:ext uri="{BB962C8B-B14F-4D97-AF65-F5344CB8AC3E}">
        <p14:creationId xmlns:p14="http://schemas.microsoft.com/office/powerpoint/2010/main" val="2795396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 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Second AI Cycle (1980s–1990s)</a:t>
            </a:r>
          </a:p>
          <a:p>
            <a:endParaRPr lang="en-US" b="1" dirty="0"/>
          </a:p>
          <a:p>
            <a:pPr lvl="1"/>
            <a:r>
              <a:rPr lang="en-US" b="1" dirty="0"/>
              <a:t>1980s</a:t>
            </a:r>
            <a:r>
              <a:rPr lang="en-US" dirty="0"/>
              <a:t>: Rise of </a:t>
            </a:r>
            <a:r>
              <a:rPr lang="en-US" i="1" dirty="0"/>
              <a:t>expert systems</a:t>
            </a:r>
            <a:r>
              <a:rPr lang="en-US" dirty="0"/>
              <a:t> (e.g., </a:t>
            </a:r>
            <a:r>
              <a:rPr lang="en-US" b="1" dirty="0"/>
              <a:t>XCON</a:t>
            </a:r>
            <a:r>
              <a:rPr lang="en-US" dirty="0"/>
              <a:t> for configuring computer systems).</a:t>
            </a:r>
          </a:p>
          <a:p>
            <a:pPr lvl="2" algn="just"/>
            <a:r>
              <a:rPr lang="en-US" dirty="0"/>
              <a:t>XCON (Expert </a:t>
            </a:r>
            <a:r>
              <a:rPr lang="en-US" dirty="0" err="1"/>
              <a:t>CONfigurer</a:t>
            </a:r>
            <a:r>
              <a:rPr lang="en-US" dirty="0"/>
              <a:t>) was an expert system developed in the late 1970s by Digital Equipment Corporation (DEC) and Carnegie Mellon University. </a:t>
            </a:r>
          </a:p>
          <a:p>
            <a:pPr lvl="2" algn="just"/>
            <a:r>
              <a:rPr lang="en-US" dirty="0"/>
              <a:t>It was designed to automatically configure VAX computer systems.</a:t>
            </a:r>
          </a:p>
          <a:p>
            <a:pPr lvl="2" algn="just"/>
            <a:endParaRPr lang="en-US" b="1" dirty="0"/>
          </a:p>
          <a:p>
            <a:pPr lvl="1"/>
            <a:r>
              <a:rPr lang="en-US" b="1" dirty="0"/>
              <a:t>1987</a:t>
            </a:r>
            <a:r>
              <a:rPr lang="en-US" dirty="0"/>
              <a:t>: </a:t>
            </a:r>
            <a:r>
              <a:rPr lang="en-US" b="1" dirty="0"/>
              <a:t>Second AI Winter</a:t>
            </a:r>
            <a:r>
              <a:rPr lang="en-US" dirty="0"/>
              <a:t>: Expert systems fail to scale; hardware market collapses.</a:t>
            </a:r>
          </a:p>
          <a:p>
            <a:pPr lvl="1"/>
            <a:endParaRPr lang="en-US" sz="1050" dirty="0"/>
          </a:p>
          <a:p>
            <a:pPr lvl="1"/>
            <a:r>
              <a:rPr lang="en-US" b="1" dirty="0"/>
              <a:t>1990s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1997</a:t>
            </a:r>
            <a:r>
              <a:rPr lang="en-US" dirty="0"/>
              <a:t>: IBM’s </a:t>
            </a:r>
            <a:r>
              <a:rPr lang="en-US" i="1" dirty="0"/>
              <a:t>Deep Blue</a:t>
            </a:r>
            <a:r>
              <a:rPr lang="en-US" dirty="0"/>
              <a:t> defeats chess champion Garry Kasparov.</a:t>
            </a:r>
          </a:p>
          <a:p>
            <a:pPr lvl="2"/>
            <a:r>
              <a:rPr lang="en-US" b="1" dirty="0"/>
              <a:t>1998</a:t>
            </a:r>
            <a:r>
              <a:rPr lang="en-US" dirty="0"/>
              <a:t>: </a:t>
            </a:r>
            <a:r>
              <a:rPr lang="en-US" i="1" dirty="0"/>
              <a:t>Web crawlers</a:t>
            </a:r>
            <a:r>
              <a:rPr lang="en-US" dirty="0"/>
              <a:t> (e.g., Google) leverage AI for search algorithms.</a:t>
            </a:r>
          </a:p>
        </p:txBody>
      </p:sp>
    </p:spTree>
    <p:extLst>
      <p:ext uri="{BB962C8B-B14F-4D97-AF65-F5344CB8AC3E}">
        <p14:creationId xmlns:p14="http://schemas.microsoft.com/office/powerpoint/2010/main" val="1849333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Modern AI (2000s–Present)</a:t>
            </a:r>
          </a:p>
          <a:p>
            <a:pPr lvl="1"/>
            <a:r>
              <a:rPr lang="en-US" b="1" dirty="0"/>
              <a:t>2000s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2002</a:t>
            </a:r>
            <a:r>
              <a:rPr lang="en-US" dirty="0"/>
              <a:t>: </a:t>
            </a:r>
            <a:r>
              <a:rPr lang="en-US" i="1" dirty="0"/>
              <a:t>Roomba - </a:t>
            </a:r>
            <a:r>
              <a:rPr lang="en-US" dirty="0"/>
              <a:t> an autonomous robotic vacuum cleaners developed by iRobot. Roomba popularizes consumer robotics.</a:t>
            </a:r>
          </a:p>
          <a:p>
            <a:pPr lvl="2"/>
            <a:r>
              <a:rPr lang="en-US" b="1" dirty="0"/>
              <a:t>2006</a:t>
            </a:r>
            <a:r>
              <a:rPr lang="en-US" dirty="0"/>
              <a:t>: </a:t>
            </a:r>
            <a:r>
              <a:rPr lang="en-US" i="1" dirty="0"/>
              <a:t>Geoffrey Hinton</a:t>
            </a:r>
            <a:r>
              <a:rPr lang="en-US" dirty="0"/>
              <a:t> pioneers </a:t>
            </a:r>
            <a:r>
              <a:rPr lang="en-US" i="1" dirty="0"/>
              <a:t>deep learning</a:t>
            </a:r>
            <a:r>
              <a:rPr lang="en-US" dirty="0"/>
              <a:t> with neural networks.</a:t>
            </a:r>
          </a:p>
          <a:p>
            <a:pPr lvl="1"/>
            <a:r>
              <a:rPr lang="en-US" b="1" dirty="0"/>
              <a:t>2010s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2011</a:t>
            </a:r>
            <a:r>
              <a:rPr lang="en-US" dirty="0"/>
              <a:t>: IBM’s </a:t>
            </a:r>
            <a:r>
              <a:rPr lang="en-US" i="1" dirty="0"/>
              <a:t>Watson</a:t>
            </a:r>
            <a:r>
              <a:rPr lang="en-US" dirty="0"/>
              <a:t> wins </a:t>
            </a:r>
            <a:r>
              <a:rPr lang="en-US" i="1" dirty="0"/>
              <a:t>Jeopardy!</a:t>
            </a:r>
            <a:r>
              <a:rPr lang="en-US" dirty="0"/>
              <a:t>.</a:t>
            </a:r>
          </a:p>
          <a:p>
            <a:pPr lvl="2"/>
            <a:r>
              <a:rPr lang="en-US" b="1" dirty="0"/>
              <a:t>2012</a:t>
            </a:r>
            <a:r>
              <a:rPr lang="en-US" dirty="0"/>
              <a:t>: </a:t>
            </a:r>
            <a:r>
              <a:rPr lang="en-US" i="1" dirty="0" err="1"/>
              <a:t>AlexNet</a:t>
            </a:r>
            <a:r>
              <a:rPr lang="en-US" dirty="0"/>
              <a:t> revolutionizes image recognition (deep learning boom).</a:t>
            </a:r>
          </a:p>
          <a:p>
            <a:pPr lvl="2"/>
            <a:r>
              <a:rPr lang="en-US" b="1" dirty="0"/>
              <a:t>2016</a:t>
            </a:r>
            <a:r>
              <a:rPr lang="en-US" dirty="0"/>
              <a:t>: </a:t>
            </a:r>
            <a:r>
              <a:rPr lang="en-US" i="1" dirty="0" err="1"/>
              <a:t>AlphaGo</a:t>
            </a:r>
            <a:r>
              <a:rPr lang="en-US" dirty="0"/>
              <a:t> defeats world champion Lee </a:t>
            </a:r>
            <a:r>
              <a:rPr lang="en-US" dirty="0" err="1"/>
              <a:t>Sedol</a:t>
            </a:r>
            <a:r>
              <a:rPr lang="en-US" dirty="0"/>
              <a:t> in the game of Go. </a:t>
            </a:r>
          </a:p>
          <a:p>
            <a:pPr lvl="1"/>
            <a:r>
              <a:rPr lang="en-US" b="1" dirty="0"/>
              <a:t>2020s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2020</a:t>
            </a:r>
            <a:r>
              <a:rPr lang="en-US" dirty="0"/>
              <a:t>: GPT-3 (</a:t>
            </a:r>
            <a:r>
              <a:rPr lang="en-US" dirty="0" err="1"/>
              <a:t>OpenAI</a:t>
            </a:r>
            <a:r>
              <a:rPr lang="en-US" dirty="0"/>
              <a:t>) advances natural language processing.</a:t>
            </a:r>
          </a:p>
          <a:p>
            <a:pPr lvl="2"/>
            <a:r>
              <a:rPr lang="en-US" b="1" dirty="0"/>
              <a:t>2022</a:t>
            </a:r>
            <a:r>
              <a:rPr lang="en-US" dirty="0"/>
              <a:t>: DALL-E 2 enables AI-generated art.</a:t>
            </a:r>
          </a:p>
          <a:p>
            <a:pPr lvl="2"/>
            <a:r>
              <a:rPr lang="en-US" b="1" dirty="0"/>
              <a:t>2023</a:t>
            </a:r>
            <a:r>
              <a:rPr lang="en-US" dirty="0"/>
              <a:t>: Rise of </a:t>
            </a:r>
            <a:r>
              <a:rPr lang="en-US" i="1" dirty="0"/>
              <a:t>generative AI</a:t>
            </a:r>
            <a:r>
              <a:rPr lang="en-US" dirty="0"/>
              <a:t> (</a:t>
            </a:r>
            <a:r>
              <a:rPr lang="en-US" dirty="0" err="1"/>
              <a:t>ChatGPT</a:t>
            </a:r>
            <a:r>
              <a:rPr lang="en-US" dirty="0"/>
              <a:t>, </a:t>
            </a:r>
            <a:r>
              <a:rPr lang="en-US" dirty="0" err="1"/>
              <a:t>DeepSeek</a:t>
            </a:r>
            <a:r>
              <a:rPr lang="en-US" dirty="0"/>
              <a:t>, Claude, </a:t>
            </a:r>
            <a:r>
              <a:rPr lang="en-US" dirty="0" err="1"/>
              <a:t>Germini</a:t>
            </a:r>
            <a:r>
              <a:rPr lang="en-US" dirty="0"/>
              <a:t>, etc.).</a:t>
            </a:r>
          </a:p>
        </p:txBody>
      </p:sp>
    </p:spTree>
    <p:extLst>
      <p:ext uri="{BB962C8B-B14F-4D97-AF65-F5344CB8AC3E}">
        <p14:creationId xmlns:p14="http://schemas.microsoft.com/office/powerpoint/2010/main" val="433298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History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b="1" dirty="0"/>
          </a:p>
          <a:p>
            <a:pPr lvl="1"/>
            <a:r>
              <a:rPr lang="en-US" sz="2400" dirty="0"/>
              <a:t>AI has evolved from theoretical concepts to transformative technologies. </a:t>
            </a:r>
          </a:p>
          <a:p>
            <a:pPr lvl="2"/>
            <a:r>
              <a:rPr lang="en-US" dirty="0"/>
              <a:t>“AI is the new electricity” – Andrew Ng</a:t>
            </a:r>
          </a:p>
          <a:p>
            <a:pPr lvl="1"/>
            <a:r>
              <a:rPr lang="en-US" sz="2400" dirty="0"/>
              <a:t>Cycles of hype and winter have shaped its resilient progress.</a:t>
            </a:r>
          </a:p>
          <a:p>
            <a:pPr lvl="1"/>
            <a:r>
              <a:rPr lang="en-US" sz="2400" b="1" dirty="0"/>
              <a:t>Key drivers of AI growth today include: </a:t>
            </a:r>
          </a:p>
          <a:p>
            <a:pPr lvl="2"/>
            <a:r>
              <a:rPr lang="en-US" b="1" dirty="0"/>
              <a:t>Computing Power</a:t>
            </a:r>
            <a:r>
              <a:rPr lang="en-US" dirty="0"/>
              <a:t>: GPUs &amp; cloud computing.</a:t>
            </a:r>
          </a:p>
          <a:p>
            <a:pPr lvl="2"/>
            <a:r>
              <a:rPr lang="en-US" b="1" dirty="0"/>
              <a:t>Big Data</a:t>
            </a:r>
            <a:r>
              <a:rPr lang="en-US" dirty="0"/>
              <a:t>: Explosion of digital data.</a:t>
            </a:r>
          </a:p>
          <a:p>
            <a:pPr lvl="2"/>
            <a:r>
              <a:rPr lang="en-US" b="1" dirty="0"/>
              <a:t>Algorithms</a:t>
            </a:r>
            <a:r>
              <a:rPr lang="en-US" dirty="0"/>
              <a:t>: Advances in deep learning (CNNs, RNNs, Transformers</a:t>
            </a:r>
            <a:r>
              <a:rPr lang="en-US" sz="21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334218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Week1: Branches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1600200" y="1901952"/>
            <a:ext cx="6178605" cy="3512212"/>
            <a:chOff x="1285504" y="76200"/>
            <a:chExt cx="6715496" cy="6324600"/>
          </a:xfrm>
        </p:grpSpPr>
        <p:sp>
          <p:nvSpPr>
            <p:cNvPr id="5" name="Oval 4"/>
            <p:cNvSpPr/>
            <p:nvPr/>
          </p:nvSpPr>
          <p:spPr>
            <a:xfrm>
              <a:off x="3124015" y="1753349"/>
              <a:ext cx="3199905" cy="297030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63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6" name="TextBox 6"/>
            <p:cNvSpPr txBox="1">
              <a:spLocks noChangeArrowheads="1"/>
            </p:cNvSpPr>
            <p:nvPr/>
          </p:nvSpPr>
          <p:spPr bwMode="auto">
            <a:xfrm>
              <a:off x="3352800" y="2758184"/>
              <a:ext cx="2743200" cy="720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2000" b="1" dirty="0"/>
                <a:t>Branches of AI</a:t>
              </a:r>
              <a:endParaRPr lang="en-US" sz="2000" b="1" dirty="0">
                <a:solidFill>
                  <a:srgbClr val="0000CC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4801095" y="76200"/>
              <a:ext cx="1827749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096124" y="3353322"/>
              <a:ext cx="1829542" cy="1827734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6171458" y="1448413"/>
              <a:ext cx="1829542" cy="1827734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5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4707824" y="4571184"/>
              <a:ext cx="1829542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5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2896219" y="76200"/>
              <a:ext cx="1827749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52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1446934" y="1371237"/>
              <a:ext cx="1829542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1446934" y="3276146"/>
              <a:ext cx="1829542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  <a:alpha val="54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2819091" y="4571184"/>
              <a:ext cx="1829542" cy="182961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TextBox 16"/>
            <p:cNvSpPr txBox="1">
              <a:spLocks noChangeArrowheads="1"/>
            </p:cNvSpPr>
            <p:nvPr/>
          </p:nvSpPr>
          <p:spPr bwMode="auto">
            <a:xfrm>
              <a:off x="5029200" y="533400"/>
              <a:ext cx="1524000" cy="1053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600" dirty="0"/>
                <a:t>Expert Systems </a:t>
              </a:r>
            </a:p>
          </p:txBody>
        </p:sp>
        <p:sp>
          <p:nvSpPr>
            <p:cNvPr id="16" name="TextBox 17"/>
            <p:cNvSpPr txBox="1">
              <a:spLocks noChangeArrowheads="1"/>
            </p:cNvSpPr>
            <p:nvPr/>
          </p:nvSpPr>
          <p:spPr bwMode="auto">
            <a:xfrm>
              <a:off x="6248400" y="1600200"/>
              <a:ext cx="1752600" cy="1662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Natural Language</a:t>
              </a:r>
            </a:p>
            <a:p>
              <a:pPr algn="ctr"/>
              <a:r>
                <a:rPr lang="en-US" sz="1800" dirty="0"/>
                <a:t>Processing </a:t>
              </a:r>
            </a:p>
          </p:txBody>
        </p:sp>
        <p:sp>
          <p:nvSpPr>
            <p:cNvPr id="17" name="TextBox 18"/>
            <p:cNvSpPr txBox="1">
              <a:spLocks noChangeArrowheads="1"/>
            </p:cNvSpPr>
            <p:nvPr/>
          </p:nvSpPr>
          <p:spPr bwMode="auto">
            <a:xfrm>
              <a:off x="6248400" y="3810001"/>
              <a:ext cx="1676400" cy="1163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Neural  Networks</a:t>
              </a:r>
            </a:p>
          </p:txBody>
        </p:sp>
        <p:sp>
          <p:nvSpPr>
            <p:cNvPr id="18" name="TextBox 19"/>
            <p:cNvSpPr txBox="1">
              <a:spLocks noChangeArrowheads="1"/>
            </p:cNvSpPr>
            <p:nvPr/>
          </p:nvSpPr>
          <p:spPr bwMode="auto">
            <a:xfrm>
              <a:off x="5029200" y="5029199"/>
              <a:ext cx="1219200" cy="10530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600" dirty="0"/>
                <a:t>Fuzzy Logic</a:t>
              </a:r>
            </a:p>
          </p:txBody>
        </p:sp>
        <p:sp>
          <p:nvSpPr>
            <p:cNvPr id="19" name="TextBox 20"/>
            <p:cNvSpPr txBox="1">
              <a:spLocks noChangeArrowheads="1"/>
            </p:cNvSpPr>
            <p:nvPr/>
          </p:nvSpPr>
          <p:spPr bwMode="auto">
            <a:xfrm>
              <a:off x="2971800" y="5181600"/>
              <a:ext cx="1447800" cy="831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2400"/>
                <a:t>Robotics </a:t>
              </a:r>
              <a:endParaRPr lang="en-US" sz="2000"/>
            </a:p>
          </p:txBody>
        </p:sp>
        <p:sp>
          <p:nvSpPr>
            <p:cNvPr id="20" name="TextBox 21"/>
            <p:cNvSpPr txBox="1">
              <a:spLocks noChangeArrowheads="1"/>
            </p:cNvSpPr>
            <p:nvPr/>
          </p:nvSpPr>
          <p:spPr bwMode="auto">
            <a:xfrm>
              <a:off x="1285504" y="3896381"/>
              <a:ext cx="2133600" cy="665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Optimization</a:t>
              </a:r>
            </a:p>
          </p:txBody>
        </p:sp>
        <p:sp>
          <p:nvSpPr>
            <p:cNvPr id="21" name="TextBox 22"/>
            <p:cNvSpPr txBox="1">
              <a:spLocks noChangeArrowheads="1"/>
            </p:cNvSpPr>
            <p:nvPr/>
          </p:nvSpPr>
          <p:spPr bwMode="auto">
            <a:xfrm>
              <a:off x="1543792" y="1883228"/>
              <a:ext cx="1752600" cy="11638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Machine Learning</a:t>
              </a:r>
            </a:p>
          </p:txBody>
        </p:sp>
        <p:sp>
          <p:nvSpPr>
            <p:cNvPr id="22" name="TextBox 23"/>
            <p:cNvSpPr txBox="1">
              <a:spLocks noChangeArrowheads="1"/>
            </p:cNvSpPr>
            <p:nvPr/>
          </p:nvSpPr>
          <p:spPr bwMode="auto">
            <a:xfrm>
              <a:off x="2895600" y="695981"/>
              <a:ext cx="1904999" cy="6650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algn="ctr"/>
              <a:r>
                <a:rPr lang="en-US" sz="1800" dirty="0"/>
                <a:t>Computer 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9228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AI has a wide range of applications across various fields:</a:t>
            </a:r>
          </a:p>
          <a:p>
            <a:r>
              <a:rPr lang="en-US" b="1" dirty="0"/>
              <a:t>Healthcare</a:t>
            </a:r>
          </a:p>
          <a:p>
            <a:pPr lvl="1"/>
            <a:r>
              <a:rPr lang="en-US" dirty="0"/>
              <a:t>AI aids is:</a:t>
            </a:r>
          </a:p>
          <a:p>
            <a:pPr lvl="2"/>
            <a:r>
              <a:rPr lang="en-US" dirty="0"/>
              <a:t>Disease diagnosis (e.g., cancer detection)</a:t>
            </a:r>
          </a:p>
          <a:p>
            <a:pPr lvl="2"/>
            <a:r>
              <a:rPr lang="en-US" dirty="0"/>
              <a:t>Drug discovery &amp; personalized medicine</a:t>
            </a:r>
          </a:p>
          <a:p>
            <a:pPr lvl="2"/>
            <a:r>
              <a:rPr lang="en-US" dirty="0"/>
              <a:t>Robotic-assisted surgeries</a:t>
            </a:r>
          </a:p>
          <a:p>
            <a:r>
              <a:rPr lang="en-US" b="1" dirty="0"/>
              <a:t>Finance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AI is used for:</a:t>
            </a:r>
          </a:p>
          <a:p>
            <a:pPr lvl="2"/>
            <a:r>
              <a:rPr lang="en-US" dirty="0"/>
              <a:t>Fraud detection and risk assessment</a:t>
            </a:r>
          </a:p>
          <a:p>
            <a:pPr lvl="2"/>
            <a:r>
              <a:rPr lang="en-US" dirty="0"/>
              <a:t>Algorithmic trading</a:t>
            </a:r>
          </a:p>
          <a:p>
            <a:pPr lvl="2"/>
            <a:r>
              <a:rPr lang="en-US" dirty="0"/>
              <a:t>AI-powered customer support (</a:t>
            </a:r>
            <a:r>
              <a:rPr lang="en-US" dirty="0" err="1"/>
              <a:t>chatbots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730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Autonomous Vehicles</a:t>
            </a:r>
          </a:p>
          <a:p>
            <a:pPr lvl="1"/>
            <a:r>
              <a:rPr lang="en-US" dirty="0"/>
              <a:t>Self-driving cars (Tesla, </a:t>
            </a:r>
            <a:r>
              <a:rPr lang="en-US" dirty="0" err="1"/>
              <a:t>Waymo</a:t>
            </a:r>
            <a:r>
              <a:rPr lang="en-US" dirty="0"/>
              <a:t>) use AI for:</a:t>
            </a:r>
          </a:p>
          <a:p>
            <a:pPr lvl="2"/>
            <a:r>
              <a:rPr lang="en-US" dirty="0"/>
              <a:t> navigation</a:t>
            </a:r>
          </a:p>
          <a:p>
            <a:pPr lvl="2"/>
            <a:r>
              <a:rPr lang="en-US" dirty="0"/>
              <a:t> obstacle detection</a:t>
            </a:r>
          </a:p>
          <a:p>
            <a:pPr lvl="2"/>
            <a:r>
              <a:rPr lang="en-US" dirty="0"/>
              <a:t> real-time decision-making</a:t>
            </a:r>
          </a:p>
          <a:p>
            <a:r>
              <a:rPr lang="en-US" b="1" dirty="0"/>
              <a:t> Manufacturing</a:t>
            </a:r>
            <a:endParaRPr lang="en-US" dirty="0"/>
          </a:p>
          <a:p>
            <a:pPr lvl="1"/>
            <a:r>
              <a:rPr lang="en-US" dirty="0"/>
              <a:t>AI-driven robots optimize:</a:t>
            </a:r>
          </a:p>
          <a:p>
            <a:pPr lvl="2"/>
            <a:r>
              <a:rPr lang="en-US" dirty="0"/>
              <a:t> production</a:t>
            </a:r>
          </a:p>
          <a:p>
            <a:pPr lvl="2"/>
            <a:r>
              <a:rPr lang="en-US" dirty="0"/>
              <a:t> predictive maintenance</a:t>
            </a:r>
          </a:p>
          <a:p>
            <a:pPr lvl="2"/>
            <a:r>
              <a:rPr lang="en-US" dirty="0"/>
              <a:t> and quality control</a:t>
            </a:r>
          </a:p>
          <a:p>
            <a:r>
              <a:rPr lang="en-US" b="1" dirty="0"/>
              <a:t> Customer Service</a:t>
            </a:r>
            <a:endParaRPr lang="en-US" dirty="0"/>
          </a:p>
          <a:p>
            <a:pPr lvl="1"/>
            <a:r>
              <a:rPr lang="en-US" dirty="0"/>
              <a:t>AI </a:t>
            </a:r>
            <a:r>
              <a:rPr lang="en-US" dirty="0" err="1"/>
              <a:t>chatbots</a:t>
            </a:r>
            <a:r>
              <a:rPr lang="en-US" dirty="0"/>
              <a:t> (like </a:t>
            </a:r>
            <a:r>
              <a:rPr lang="en-US" dirty="0" err="1"/>
              <a:t>ChatGPT</a:t>
            </a:r>
            <a:r>
              <a:rPr lang="en-US" dirty="0"/>
              <a:t>) and virtual assistants (</a:t>
            </a:r>
            <a:r>
              <a:rPr lang="en-US" dirty="0" err="1"/>
              <a:t>Siri</a:t>
            </a:r>
            <a:r>
              <a:rPr lang="en-US" dirty="0"/>
              <a:t>, Alexa) handle queries and automate responses.</a:t>
            </a:r>
          </a:p>
        </p:txBody>
      </p:sp>
    </p:spTree>
    <p:extLst>
      <p:ext uri="{BB962C8B-B14F-4D97-AF65-F5344CB8AC3E}">
        <p14:creationId xmlns:p14="http://schemas.microsoft.com/office/powerpoint/2010/main" val="2668506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b="1" dirty="0" err="1"/>
              <a:t>Cybersecurity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AI detects anomalies, prevents cyber attacks, and enhances threat analysis.</a:t>
            </a:r>
          </a:p>
          <a:p>
            <a:pPr lvl="0"/>
            <a:r>
              <a:rPr lang="en-US" b="1" dirty="0"/>
              <a:t>Education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Enables adaptive learning platforms, automated grading, and AI tutors.</a:t>
            </a:r>
          </a:p>
          <a:p>
            <a:pPr lvl="0"/>
            <a:r>
              <a:rPr lang="en-US" b="1" dirty="0"/>
              <a:t>Agriculture</a:t>
            </a:r>
          </a:p>
          <a:p>
            <a:pPr lvl="1"/>
            <a:r>
              <a:rPr lang="en-US" dirty="0"/>
              <a:t> AI helps in:</a:t>
            </a:r>
          </a:p>
          <a:p>
            <a:pPr lvl="2"/>
            <a:r>
              <a:rPr lang="en-US" dirty="0"/>
              <a:t> crop monitoring</a:t>
            </a:r>
          </a:p>
          <a:p>
            <a:pPr lvl="2"/>
            <a:r>
              <a:rPr lang="en-US" dirty="0"/>
              <a:t> precision farming</a:t>
            </a:r>
          </a:p>
          <a:p>
            <a:pPr lvl="2"/>
            <a:r>
              <a:rPr lang="en-US" dirty="0"/>
              <a:t> pest control using drones and sensors.</a:t>
            </a:r>
          </a:p>
        </p:txBody>
      </p:sp>
    </p:spTree>
    <p:extLst>
      <p:ext uri="{BB962C8B-B14F-4D97-AF65-F5344CB8AC3E}">
        <p14:creationId xmlns:p14="http://schemas.microsoft.com/office/powerpoint/2010/main" val="1249941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Pros and Cons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Study this on </a:t>
            </a:r>
            <a:r>
              <a:rPr lang="en-US"/>
              <a:t>your 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549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Intelligent Agent</a:t>
            </a:r>
          </a:p>
        </p:txBody>
      </p:sp>
    </p:spTree>
    <p:extLst>
      <p:ext uri="{BB962C8B-B14F-4D97-AF65-F5344CB8AC3E}">
        <p14:creationId xmlns:p14="http://schemas.microsoft.com/office/powerpoint/2010/main" val="1576892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What is an Agent?</a:t>
            </a:r>
          </a:p>
          <a:p>
            <a:pPr lvl="1"/>
            <a:r>
              <a:rPr lang="en-US" sz="1600" dirty="0"/>
              <a:t>An agent in AI is an independent program or entity that interact with its environment by perceiving its surroundings via sensors, then acting through actuators or effectors</a:t>
            </a:r>
          </a:p>
          <a:p>
            <a:pPr lvl="1"/>
            <a:r>
              <a:rPr lang="en-US" sz="1600" dirty="0"/>
              <a:t> Any entity  that perceives its environment through sensors and acts upon it through actuators or effectors</a:t>
            </a:r>
          </a:p>
          <a:p>
            <a:pPr lvl="1"/>
            <a:r>
              <a:rPr lang="en-US" sz="1600" dirty="0"/>
              <a:t>The concept of an agent is fundamental in AI, where the focus is on creating systems that can perform tasks intelligently.</a:t>
            </a:r>
          </a:p>
          <a:p>
            <a:pPr lvl="1"/>
            <a:endParaRPr lang="en-US" sz="1600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195" y="3662755"/>
            <a:ext cx="6190476" cy="205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457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 :Intelligent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Typical example of agents in general term include:</a:t>
            </a:r>
          </a:p>
          <a:p>
            <a:pPr lvl="1" algn="just"/>
            <a:r>
              <a:rPr lang="en-US" sz="2400" b="1" dirty="0"/>
              <a:t>Human-Agent:</a:t>
            </a:r>
            <a:r>
              <a:rPr lang="en-US" sz="2400" dirty="0"/>
              <a:t> A human agent has eyes, ears, and other organs which work for sensors and hand, legs, mouth work for actuators.</a:t>
            </a:r>
          </a:p>
          <a:p>
            <a:pPr lvl="1" algn="just"/>
            <a:r>
              <a:rPr lang="en-US" sz="2400" b="1" dirty="0"/>
              <a:t>Robotic Agent:</a:t>
            </a:r>
            <a:r>
              <a:rPr lang="en-US" sz="2400" dirty="0"/>
              <a:t> A robotic agent can have cameras, infrared range finder for sensors and various motors for actuators.</a:t>
            </a:r>
          </a:p>
          <a:p>
            <a:pPr lvl="1" algn="just"/>
            <a:r>
              <a:rPr lang="en-US" sz="2400" b="1" dirty="0"/>
              <a:t>Software Agent:</a:t>
            </a:r>
            <a:r>
              <a:rPr lang="en-US" sz="2400" dirty="0"/>
              <a:t> Software agent can have keystrokes, file contents as sensory input and act on those inputs and display output on the screen. e.g. </a:t>
            </a:r>
            <a:r>
              <a:rPr lang="en-US" sz="2400" dirty="0" err="1"/>
              <a:t>Chatbots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3431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Some fundamental concepts</a:t>
            </a:r>
          </a:p>
          <a:p>
            <a:r>
              <a:rPr lang="en-US" sz="2600" b="1" dirty="0"/>
              <a:t>Percept</a:t>
            </a:r>
          </a:p>
          <a:p>
            <a:pPr lvl="1" algn="just"/>
            <a:r>
              <a:rPr lang="en-US" sz="2600" dirty="0"/>
              <a:t>Agent’s perceptual input at any given instant </a:t>
            </a:r>
          </a:p>
          <a:p>
            <a:pPr lvl="1" algn="just"/>
            <a:r>
              <a:rPr lang="en-US" sz="2600" dirty="0"/>
              <a:t>This could be data from cameras, microphones or any other sensors</a:t>
            </a:r>
          </a:p>
          <a:p>
            <a:pPr lvl="1" algn="just"/>
            <a:r>
              <a:rPr lang="en-US" sz="2600" dirty="0"/>
              <a:t>E.g.  For a vacuum cleaner agent, a percept could be whether the current location is dirty or clean</a:t>
            </a:r>
          </a:p>
          <a:p>
            <a:r>
              <a:rPr lang="en-US" sz="2600" b="1" dirty="0"/>
              <a:t>Percept sequence</a:t>
            </a:r>
          </a:p>
          <a:p>
            <a:pPr lvl="1" algn="just"/>
            <a:r>
              <a:rPr lang="en-US" sz="2600" dirty="0"/>
              <a:t>Complete history of everything (all percepts) the agent has ever perceived</a:t>
            </a:r>
          </a:p>
          <a:p>
            <a:pPr lvl="1" algn="just"/>
            <a:r>
              <a:rPr lang="en-US" sz="2600" dirty="0"/>
              <a:t>It represent everything the agent has sensed up to the current moment</a:t>
            </a:r>
          </a:p>
          <a:p>
            <a:pPr lvl="1" algn="just"/>
            <a:r>
              <a:rPr lang="en-US" sz="2600" dirty="0"/>
              <a:t>The agent actions depend on this sequence </a:t>
            </a:r>
          </a:p>
          <a:p>
            <a:pPr lvl="1" algn="just"/>
            <a:r>
              <a:rPr lang="en-US" sz="2600" dirty="0"/>
              <a:t>E.g. if a vacuum cleaner agent perceives [Clean, Dirty, Clean] over three time steps, that is its percept sequence.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929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600" b="1" dirty="0"/>
              <a:t>Agent Function </a:t>
            </a:r>
          </a:p>
          <a:p>
            <a:pPr lvl="1" algn="just"/>
            <a:r>
              <a:rPr lang="en-US" sz="2600" dirty="0"/>
              <a:t>The agent function is a mathematical mapping that determines the agent’s action based on its percept sequence</a:t>
            </a:r>
          </a:p>
          <a:p>
            <a:pPr lvl="1" algn="just"/>
            <a:r>
              <a:rPr lang="en-US" sz="2600" dirty="0"/>
              <a:t>It maps a given percept sequence to an action</a:t>
            </a:r>
          </a:p>
          <a:p>
            <a:pPr lvl="1" algn="just"/>
            <a:r>
              <a:rPr lang="en-US" sz="2600" dirty="0"/>
              <a:t>It can be represented as: </a:t>
            </a:r>
          </a:p>
          <a:p>
            <a:pPr lvl="1" algn="just"/>
            <a:r>
              <a:rPr lang="en-US" sz="2600" dirty="0"/>
              <a:t> </a:t>
            </a:r>
            <a:r>
              <a:rPr lang="en-US" sz="2600" b="1" i="1" dirty="0"/>
              <a:t>Action = f(Percept Sequence)</a:t>
            </a:r>
          </a:p>
          <a:p>
            <a:pPr lvl="1" algn="just"/>
            <a:r>
              <a:rPr lang="en-US" sz="2600" dirty="0"/>
              <a:t>E.g. A simple vacuum cleaner agent function might say: </a:t>
            </a:r>
          </a:p>
          <a:p>
            <a:pPr lvl="1" algn="just"/>
            <a:r>
              <a:rPr lang="en-US" sz="2600" dirty="0"/>
              <a:t>If current location is </a:t>
            </a:r>
            <a:r>
              <a:rPr lang="en-US" sz="2600" b="1" dirty="0"/>
              <a:t>Dirty –&gt; Suck </a:t>
            </a:r>
          </a:p>
          <a:p>
            <a:pPr lvl="1" algn="just"/>
            <a:r>
              <a:rPr lang="en-US" sz="2600" b="1" dirty="0"/>
              <a:t>Else –&gt; move to next location</a:t>
            </a:r>
          </a:p>
          <a:p>
            <a:pPr marL="457200" lvl="1" indent="0" algn="just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7288080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of fundamental Concepts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44165"/>
              </p:ext>
            </p:extLst>
          </p:nvPr>
        </p:nvGraphicFramePr>
        <p:xfrm>
          <a:off x="888570" y="2387600"/>
          <a:ext cx="7976461" cy="2379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9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86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Concept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US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9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Percept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Single sensory input at a given time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Camera image, "Dirty" sensor reading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9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Percept Sequence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Full history of all percepts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[Clean, Dirty,    Clean, Dirty]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98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Agent Function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Rule that maps percept sequences to actions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If Dirty → Suck;      Else → Move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6501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1:Intelligent Agent-Vacuum Cleaner World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785" y="2207361"/>
            <a:ext cx="6413610" cy="3673606"/>
          </a:xfrm>
        </p:spPr>
      </p:pic>
    </p:spTree>
    <p:extLst>
      <p:ext uri="{BB962C8B-B14F-4D97-AF65-F5344CB8AC3E}">
        <p14:creationId xmlns:p14="http://schemas.microsoft.com/office/powerpoint/2010/main" val="28826262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1:Intelligent Agent-Vacuum Cleaner World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7"/>
          <a:stretch/>
        </p:blipFill>
        <p:spPr>
          <a:xfrm>
            <a:off x="296260" y="2207361"/>
            <a:ext cx="8246070" cy="3664919"/>
          </a:xfrm>
        </p:spPr>
      </p:pic>
    </p:spTree>
    <p:extLst>
      <p:ext uri="{BB962C8B-B14F-4D97-AF65-F5344CB8AC3E}">
        <p14:creationId xmlns:p14="http://schemas.microsoft.com/office/powerpoint/2010/main" val="7752879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Intelligent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Intelligent Agent </a:t>
            </a:r>
          </a:p>
          <a:p>
            <a:pPr lvl="1" algn="just"/>
            <a:r>
              <a:rPr lang="en-US" dirty="0"/>
              <a:t>An intelligent agent is an autonomous entity which act upon its environment using sensors and actuators for achieving goals. </a:t>
            </a:r>
          </a:p>
          <a:p>
            <a:pPr lvl="1"/>
            <a:r>
              <a:rPr lang="en-US" dirty="0"/>
              <a:t>Usually takes action that will lead to their goal</a:t>
            </a:r>
          </a:p>
          <a:p>
            <a:pPr lvl="1" algn="just"/>
            <a:r>
              <a:rPr lang="en-US" dirty="0"/>
              <a:t>An intelligent agent may learn from the environment to achieve their goals.</a:t>
            </a:r>
          </a:p>
          <a:p>
            <a:pPr lvl="1"/>
            <a:r>
              <a:rPr lang="en-US" dirty="0"/>
              <a:t>Driverless cars and </a:t>
            </a:r>
            <a:r>
              <a:rPr lang="en-US" dirty="0" err="1"/>
              <a:t>Siri</a:t>
            </a:r>
            <a:r>
              <a:rPr lang="en-US" dirty="0"/>
              <a:t> virtual assistant are typical  examples of intelligent agents in AI.</a:t>
            </a:r>
          </a:p>
        </p:txBody>
      </p:sp>
    </p:spTree>
    <p:extLst>
      <p:ext uri="{BB962C8B-B14F-4D97-AF65-F5344CB8AC3E}">
        <p14:creationId xmlns:p14="http://schemas.microsoft.com/office/powerpoint/2010/main" val="30452220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Rational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46356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sz="8000" dirty="0"/>
              <a:t>AI is about creating </a:t>
            </a:r>
            <a:r>
              <a:rPr lang="en-US" sz="8000" b="1" dirty="0"/>
              <a:t>rational agents </a:t>
            </a:r>
            <a:r>
              <a:rPr lang="en-US" sz="8000" dirty="0"/>
              <a:t>for various real world scenarios </a:t>
            </a:r>
            <a:endParaRPr lang="en-US" sz="8000" b="1" dirty="0"/>
          </a:p>
          <a:p>
            <a:pPr lvl="0"/>
            <a:r>
              <a:rPr lang="en-US" sz="8000" b="1" dirty="0"/>
              <a:t>Definition of a Rational Agent</a:t>
            </a:r>
          </a:p>
          <a:p>
            <a:pPr lvl="1"/>
            <a:r>
              <a:rPr lang="en-US" sz="8000" dirty="0"/>
              <a:t>A </a:t>
            </a:r>
            <a:r>
              <a:rPr lang="en-US" sz="8000" b="1" i="1" dirty="0"/>
              <a:t>rational agent</a:t>
            </a:r>
            <a:r>
              <a:rPr lang="en-US" sz="8000" b="1" dirty="0"/>
              <a:t> </a:t>
            </a:r>
            <a:r>
              <a:rPr lang="en-US" sz="8000" dirty="0"/>
              <a:t>is an intelligent agent  that takes the right decision in every situation, i.e. always act optimally. </a:t>
            </a:r>
          </a:p>
          <a:p>
            <a:pPr lvl="1" algn="just"/>
            <a:r>
              <a:rPr lang="en-US" sz="8000" dirty="0"/>
              <a:t>For each possible percept sequence, an ideal rational agent does whatever possible to maximize its performance, based on:</a:t>
            </a:r>
          </a:p>
          <a:p>
            <a:pPr marL="914378" lvl="2" indent="0">
              <a:buNone/>
            </a:pPr>
            <a:r>
              <a:rPr lang="en-US" sz="8000" dirty="0"/>
              <a:t> • the percept sequence and </a:t>
            </a:r>
          </a:p>
          <a:p>
            <a:pPr marL="914378" lvl="2" indent="0">
              <a:buNone/>
            </a:pPr>
            <a:r>
              <a:rPr lang="en-US" sz="8000" dirty="0"/>
              <a:t> • its internal knowledge</a:t>
            </a:r>
          </a:p>
          <a:p>
            <a:pPr lvl="1"/>
            <a:r>
              <a:rPr lang="en-US" sz="8000" dirty="0"/>
              <a:t>The rationality of an agent depends on:</a:t>
            </a:r>
          </a:p>
          <a:p>
            <a:pPr lvl="2"/>
            <a:r>
              <a:rPr lang="en-US" sz="8000" dirty="0"/>
              <a:t>the performance measure - an objective criterion for the success of an agent’s behavior</a:t>
            </a:r>
          </a:p>
          <a:p>
            <a:pPr lvl="2"/>
            <a:r>
              <a:rPr lang="en-US" sz="8000" dirty="0"/>
              <a:t>the percept sequence - all the things perceived by the agent</a:t>
            </a:r>
          </a:p>
          <a:p>
            <a:pPr lvl="2"/>
            <a:r>
              <a:rPr lang="en-US" sz="8000" dirty="0"/>
              <a:t>the agent’s knowledge of the environment </a:t>
            </a:r>
          </a:p>
          <a:p>
            <a:pPr lvl="2"/>
            <a:r>
              <a:rPr lang="en-US" sz="8000" dirty="0"/>
              <a:t>the actions that the agent can perform</a:t>
            </a:r>
          </a:p>
          <a:p>
            <a:endParaRPr lang="en-US" sz="8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0359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Rational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0990" indent="-380990">
              <a:lnSpc>
                <a:spcPct val="15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  <a:p>
            <a:pPr marL="781040" lvl="1" indent="-380990">
              <a:lnSpc>
                <a:spcPct val="150000"/>
              </a:lnSpc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Agent – A vacuum cleaner robot that cleans randomly (not optimally)</a:t>
            </a:r>
          </a:p>
          <a:p>
            <a:pPr marL="781040" lvl="1" indent="-380990">
              <a:lnSpc>
                <a:spcPct val="150000"/>
              </a:lnSpc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 Agent – A vacuum cleaner robot that plans the shortest path to clean efficiently </a:t>
            </a:r>
          </a:p>
          <a:p>
            <a:pPr marL="380990" indent="-380990">
              <a:lnSpc>
                <a:spcPct val="150000"/>
              </a:lnSpc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NB: </a:t>
            </a:r>
          </a:p>
          <a:p>
            <a:pPr marL="380990" indent="-380990">
              <a:lnSpc>
                <a:spcPct val="150000"/>
              </a:lnSpc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rational agents are intelligent agents, but not all intelligent agents are necessarily rational</a:t>
            </a:r>
          </a:p>
          <a:p>
            <a:pPr marL="380990" indent="-380990">
              <a:lnSpc>
                <a:spcPct val="150000"/>
              </a:lnSpc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depends on optimal decision  making, while intelligence focuses on autonomous behavior.</a:t>
            </a:r>
          </a:p>
        </p:txBody>
      </p:sp>
    </p:spTree>
    <p:extLst>
      <p:ext uri="{BB962C8B-B14F-4D97-AF65-F5344CB8AC3E}">
        <p14:creationId xmlns:p14="http://schemas.microsoft.com/office/powerpoint/2010/main" val="840267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Task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3800" b="1" dirty="0"/>
              <a:t>Task Environment </a:t>
            </a:r>
          </a:p>
          <a:p>
            <a:pPr lvl="1"/>
            <a:r>
              <a:rPr lang="en-US" sz="3800" dirty="0"/>
              <a:t>To design a rational agent, we must specify the “task environment”</a:t>
            </a:r>
          </a:p>
          <a:p>
            <a:pPr lvl="1"/>
            <a:r>
              <a:rPr lang="en-US" sz="3800" dirty="0"/>
              <a:t>A task environment defines the problem space within which an intelligent agent operates to achieve its goals</a:t>
            </a:r>
          </a:p>
          <a:p>
            <a:pPr lvl="1"/>
            <a:r>
              <a:rPr lang="en-US" sz="3800" dirty="0"/>
              <a:t> it includes everything the agent interacts with and everything that affects the agent’s performance</a:t>
            </a:r>
          </a:p>
          <a:p>
            <a:pPr lvl="1"/>
            <a:r>
              <a:rPr lang="en-US" sz="3800" dirty="0"/>
              <a:t>A task environment typically consist of the following components:</a:t>
            </a:r>
          </a:p>
          <a:p>
            <a:pPr lvl="2"/>
            <a:r>
              <a:rPr lang="en-US" sz="3800" b="1" dirty="0"/>
              <a:t>Performance Measure</a:t>
            </a:r>
            <a:r>
              <a:rPr lang="en-US" sz="3800" dirty="0"/>
              <a:t> – criteria for success (e.g. speed or accuracy)</a:t>
            </a:r>
          </a:p>
          <a:p>
            <a:pPr lvl="2"/>
            <a:r>
              <a:rPr lang="en-US" sz="3800" b="1" dirty="0"/>
              <a:t>Environment</a:t>
            </a:r>
            <a:r>
              <a:rPr lang="en-US" sz="3800" dirty="0"/>
              <a:t> – the external world the agents interacts with (e.g. , a chessboard, a physical room).</a:t>
            </a:r>
          </a:p>
          <a:p>
            <a:pPr lvl="2"/>
            <a:r>
              <a:rPr lang="en-US" sz="3800" b="1" dirty="0"/>
              <a:t>Actuators</a:t>
            </a:r>
            <a:r>
              <a:rPr lang="en-US" sz="3800" dirty="0"/>
              <a:t> – the tools the agent uses to act upon the environment (e.g., robot arms, mouse clicks)</a:t>
            </a:r>
          </a:p>
          <a:p>
            <a:pPr lvl="2"/>
            <a:r>
              <a:rPr lang="en-US" sz="3800" b="1" dirty="0"/>
              <a:t>Sensors</a:t>
            </a:r>
            <a:r>
              <a:rPr lang="en-US" sz="3800" dirty="0"/>
              <a:t> – the tools the agent uses to perceive its environment (e.g., cameras, keyboard)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896623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Task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task environment is easily described using the </a:t>
            </a:r>
            <a:r>
              <a:rPr lang="en-US" b="1" dirty="0"/>
              <a:t>PEAS</a:t>
            </a:r>
            <a:r>
              <a:rPr lang="en-US" dirty="0"/>
              <a:t> model: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49683"/>
              </p:ext>
            </p:extLst>
          </p:nvPr>
        </p:nvGraphicFramePr>
        <p:xfrm>
          <a:off x="581186" y="3039820"/>
          <a:ext cx="7904136" cy="34420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Example (Self-Driving Car)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3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erformance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how well the agent does its task.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Safety, travel time, fuel efficiency.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7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nvironment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 external world the agent interacts with.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Roads, traffic, weather conditions.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12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ctuators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Tools the agent uses to perform actions.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Steering, brakes, accelerator.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997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ensors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How the agent perceives the environment.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Cameras, LIDAR, GPS.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185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More PEAS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PEAS for Vacuum Cleaner</a:t>
            </a:r>
          </a:p>
          <a:p>
            <a:pPr lvl="1"/>
            <a:r>
              <a:rPr lang="en-US" dirty="0"/>
              <a:t>Performance Measure: cleanness, efficiency: distance traveled to clean, battery life, security. </a:t>
            </a:r>
          </a:p>
          <a:p>
            <a:pPr lvl="1"/>
            <a:r>
              <a:rPr lang="en-US" dirty="0"/>
              <a:t> Environment: room, table, wood floor, carpet, different obstacles.</a:t>
            </a:r>
          </a:p>
          <a:p>
            <a:pPr lvl="1"/>
            <a:r>
              <a:rPr lang="en-US" dirty="0"/>
              <a:t>Actuators: wheels, different brushes, vacuum extractor.</a:t>
            </a:r>
          </a:p>
          <a:p>
            <a:pPr lvl="1"/>
            <a:r>
              <a:rPr lang="en-US" dirty="0"/>
              <a:t>Sensors: camera, dirt detection sensor, cliff sensor, bump sensors, infrared wall sensors.</a:t>
            </a:r>
          </a:p>
          <a:p>
            <a:r>
              <a:rPr lang="en-US" dirty="0"/>
              <a:t>PEAS for Medical diagnosis system</a:t>
            </a:r>
          </a:p>
          <a:p>
            <a:pPr lvl="1"/>
            <a:r>
              <a:rPr lang="en-US" dirty="0"/>
              <a:t> Performance measure: Healthy patient, minimize costs, lawsuits</a:t>
            </a:r>
          </a:p>
          <a:p>
            <a:pPr lvl="1"/>
            <a:r>
              <a:rPr lang="en-US" dirty="0"/>
              <a:t>Environment: Patient, hospital, staff</a:t>
            </a:r>
          </a:p>
          <a:p>
            <a:pPr lvl="1"/>
            <a:r>
              <a:rPr lang="en-US" dirty="0"/>
              <a:t>Actuators: Screen display (questions, tests, diagnoses, treatments, referrals)</a:t>
            </a:r>
          </a:p>
          <a:p>
            <a:pPr lvl="1"/>
            <a:r>
              <a:rPr lang="en-US" dirty="0"/>
              <a:t> Sensors: Keyboard (entry of symptoms, findings, patient's answers)</a:t>
            </a:r>
          </a:p>
        </p:txBody>
      </p:sp>
    </p:spTree>
    <p:extLst>
      <p:ext uri="{BB962C8B-B14F-4D97-AF65-F5344CB8AC3E}">
        <p14:creationId xmlns:p14="http://schemas.microsoft.com/office/powerpoint/2010/main" val="8706947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 Agents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4000" b="1" dirty="0"/>
              <a:t>Agent Environment </a:t>
            </a:r>
          </a:p>
          <a:p>
            <a:pPr lvl="1"/>
            <a:r>
              <a:rPr lang="en-US" sz="4000" dirty="0"/>
              <a:t>Everything in the world which surround the agent, but is not part of the agent itself. </a:t>
            </a:r>
          </a:p>
          <a:p>
            <a:pPr lvl="1"/>
            <a:r>
              <a:rPr lang="en-US" sz="4000" dirty="0"/>
              <a:t>A situation in which an agent is currently in</a:t>
            </a:r>
          </a:p>
          <a:p>
            <a:r>
              <a:rPr lang="en-US" sz="4000" b="1" dirty="0"/>
              <a:t>Properties/types of Environment </a:t>
            </a:r>
          </a:p>
          <a:p>
            <a:r>
              <a:rPr lang="en-US" sz="4000" dirty="0"/>
              <a:t> </a:t>
            </a:r>
            <a:r>
              <a:rPr lang="en-US" sz="4000" b="1" dirty="0"/>
              <a:t>Fully  Observable vs. Partially Observable</a:t>
            </a:r>
          </a:p>
          <a:p>
            <a:pPr lvl="1" algn="just"/>
            <a:r>
              <a:rPr lang="en-US" sz="4000" dirty="0"/>
              <a:t>If an agent sensor can sense or access the complete state of an environment at each point of time then it is </a:t>
            </a:r>
            <a:r>
              <a:rPr lang="en-US" sz="4000" b="1" dirty="0"/>
              <a:t>a fully observable</a:t>
            </a:r>
            <a:r>
              <a:rPr lang="en-US" sz="4000" dirty="0"/>
              <a:t> environment, else it is </a:t>
            </a:r>
            <a:r>
              <a:rPr lang="en-US" sz="4000" b="1" dirty="0"/>
              <a:t>partially observable</a:t>
            </a:r>
            <a:r>
              <a:rPr lang="en-US" sz="4000" dirty="0"/>
              <a:t>.</a:t>
            </a:r>
          </a:p>
          <a:p>
            <a:pPr lvl="1"/>
            <a:r>
              <a:rPr lang="en-US" sz="4000" dirty="0"/>
              <a:t>A fully observable environment is easy as there is no need to maintain the internal state to keep track of history of the world.</a:t>
            </a:r>
          </a:p>
          <a:p>
            <a:r>
              <a:rPr lang="en-US" sz="4000" dirty="0"/>
              <a:t> </a:t>
            </a:r>
            <a:r>
              <a:rPr lang="en-US" sz="4000" b="1" dirty="0"/>
              <a:t>Deterministic vs. non deterministic</a:t>
            </a:r>
          </a:p>
          <a:p>
            <a:pPr lvl="1"/>
            <a:r>
              <a:rPr lang="en-US" sz="4000" dirty="0"/>
              <a:t>If an agent's current state and selected action can completely determine the next state of the environment, then such environment is called a deterministic environment.</a:t>
            </a:r>
          </a:p>
          <a:p>
            <a:pPr lvl="1"/>
            <a:r>
              <a:rPr lang="en-US" sz="4000" dirty="0"/>
              <a:t>A stochastic environment is random in nature and cannot be determined completely by an agent.</a:t>
            </a:r>
          </a:p>
          <a:p>
            <a:pPr lvl="1"/>
            <a:r>
              <a:rPr lang="en-US" sz="4000" dirty="0"/>
              <a:t>In a deterministic, fully observable environment, agent does not need to worry about uncertainty</a:t>
            </a:r>
          </a:p>
          <a:p>
            <a:endParaRPr lang="en-US" sz="4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4485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1: Types of Agent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sz="5500" b="1" dirty="0"/>
              <a:t>Episodic vs. Sequential</a:t>
            </a:r>
          </a:p>
          <a:p>
            <a:pPr lvl="1"/>
            <a:r>
              <a:rPr lang="en-US" sz="5500" dirty="0"/>
              <a:t>An episodic environment means that subsequent episode do not depend on what actions occurred in previous episode. Such environment do not require the agent to plan ahead.</a:t>
            </a:r>
          </a:p>
          <a:p>
            <a:pPr lvl="1"/>
            <a:r>
              <a:rPr lang="en-US" sz="5500" dirty="0"/>
              <a:t>However, in Sequential environment, an agent requires memory of past actions to determine the next best actions.</a:t>
            </a:r>
          </a:p>
          <a:p>
            <a:r>
              <a:rPr lang="en-US" sz="5500" b="1" dirty="0"/>
              <a:t>Static vs. Dynamic</a:t>
            </a:r>
          </a:p>
          <a:p>
            <a:pPr lvl="1"/>
            <a:r>
              <a:rPr lang="en-US" sz="5500" dirty="0"/>
              <a:t>If the environment can change itself while an agent is deliberating/thinking then such environment is called a dynamic environment else it is called a static environment.  </a:t>
            </a:r>
          </a:p>
          <a:p>
            <a:pPr lvl="1"/>
            <a:r>
              <a:rPr lang="en-US" sz="5500" dirty="0"/>
              <a:t>Static environments are easy to deal because an agent does not need to continue looking at the world while deciding for an action.</a:t>
            </a:r>
          </a:p>
          <a:p>
            <a:pPr lvl="1"/>
            <a:r>
              <a:rPr lang="en-US" sz="5500" dirty="0"/>
              <a:t>However for dynamic environment, agents need to keep looking at the world at each action.</a:t>
            </a:r>
          </a:p>
          <a:p>
            <a:pPr lvl="1"/>
            <a:r>
              <a:rPr lang="en-US" sz="5500" dirty="0"/>
              <a:t>A self-driving car come under dynamic environment whereas Crossword puzzles falls under a static environment.</a:t>
            </a:r>
          </a:p>
          <a:p>
            <a:pPr marL="0" indent="0">
              <a:buNone/>
            </a:pPr>
            <a:r>
              <a:rPr lang="en-US" sz="5500" dirty="0"/>
              <a:t> </a:t>
            </a:r>
          </a:p>
          <a:p>
            <a:pPr lvl="1"/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45115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Week 1: Types of Agent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sz="5600" b="1" dirty="0"/>
              <a:t>Discrete vs. Continuous</a:t>
            </a:r>
            <a:r>
              <a:rPr lang="en-US" sz="5600" dirty="0"/>
              <a:t>	 </a:t>
            </a:r>
          </a:p>
          <a:p>
            <a:pPr lvl="1" algn="just"/>
            <a:r>
              <a:rPr lang="en-US" sz="5600" dirty="0"/>
              <a:t>If in an environment there are a finite number of percepts and actions that can be performed within it, then such an environment is called a discrete environment else it is called continuous environment.</a:t>
            </a:r>
          </a:p>
          <a:p>
            <a:pPr lvl="1"/>
            <a:r>
              <a:rPr lang="en-US" sz="5600" dirty="0"/>
              <a:t>A chess game comes under discrete environment as there is a finite number of moves that can be performed.</a:t>
            </a:r>
          </a:p>
          <a:p>
            <a:pPr lvl="1"/>
            <a:r>
              <a:rPr lang="en-US" sz="5600" dirty="0"/>
              <a:t>A self-driving car is an example of a continuous environment. </a:t>
            </a:r>
          </a:p>
          <a:p>
            <a:r>
              <a:rPr lang="en-US" sz="5600" b="1" dirty="0"/>
              <a:t>With/Without Rational Adversaries </a:t>
            </a:r>
          </a:p>
          <a:p>
            <a:pPr lvl="1" algn="just"/>
            <a:r>
              <a:rPr lang="en-US" sz="5600" dirty="0"/>
              <a:t>If an environment does not contain other rational thinking adversary agents, the agent need not to worry about strategic, game theoretic aspect of the environment.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1007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1:Types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Reflex Agent </a:t>
            </a:r>
          </a:p>
          <a:p>
            <a:r>
              <a:rPr lang="en-US" dirty="0"/>
              <a:t>Model Based Reflex Agent</a:t>
            </a:r>
          </a:p>
          <a:p>
            <a:r>
              <a:rPr lang="en-US" dirty="0"/>
              <a:t>Goal Based Agent</a:t>
            </a:r>
          </a:p>
          <a:p>
            <a:r>
              <a:rPr lang="en-US" dirty="0"/>
              <a:t>Utility based Agent</a:t>
            </a:r>
          </a:p>
          <a:p>
            <a:r>
              <a:rPr lang="en-US" dirty="0"/>
              <a:t>Learning Agents</a:t>
            </a:r>
          </a:p>
        </p:txBody>
      </p:sp>
    </p:spTree>
    <p:extLst>
      <p:ext uri="{BB962C8B-B14F-4D97-AF65-F5344CB8AC3E}">
        <p14:creationId xmlns:p14="http://schemas.microsoft.com/office/powerpoint/2010/main" val="4290954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56" y="2057401"/>
            <a:ext cx="4733855" cy="3394472"/>
          </a:xfrm>
        </p:spPr>
        <p:txBody>
          <a:bodyPr>
            <a:normAutofit fontScale="85000" lnSpcReduction="10000"/>
          </a:bodyPr>
          <a:lstStyle/>
          <a:p>
            <a:endParaRPr lang="en-US" dirty="0"/>
          </a:p>
          <a:p>
            <a:r>
              <a:rPr lang="en-US" b="1" dirty="0"/>
              <a:t>Simple Reflex Agent (SRA)</a:t>
            </a:r>
          </a:p>
          <a:p>
            <a:r>
              <a:rPr lang="en-US" sz="1900" dirty="0"/>
              <a:t>Simplest Type of Agents</a:t>
            </a:r>
          </a:p>
          <a:p>
            <a:r>
              <a:rPr lang="en-US" sz="1900" dirty="0"/>
              <a:t>They take decisions on the basis of the current percepts and ignore the rest of the percepts history </a:t>
            </a:r>
          </a:p>
          <a:p>
            <a:r>
              <a:rPr lang="en-US" sz="1900" dirty="0"/>
              <a:t>They do not have memory of the past state of the world</a:t>
            </a:r>
          </a:p>
          <a:p>
            <a:r>
              <a:rPr lang="en-US" sz="1900" dirty="0"/>
              <a:t>They work on condition-action rule, which means they map their current state to action.</a:t>
            </a:r>
          </a:p>
          <a:p>
            <a:r>
              <a:rPr lang="en-US" sz="1900" dirty="0"/>
              <a:t>e.g. </a:t>
            </a:r>
            <a:r>
              <a:rPr lang="en-US" sz="1800" dirty="0"/>
              <a:t>A vacuum cleaner that cleans only when dirt is detected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821" y="2357388"/>
            <a:ext cx="3503980" cy="2794100"/>
          </a:xfrm>
        </p:spPr>
      </p:pic>
    </p:spTree>
    <p:extLst>
      <p:ext uri="{BB962C8B-B14F-4D97-AF65-F5344CB8AC3E}">
        <p14:creationId xmlns:p14="http://schemas.microsoft.com/office/powerpoint/2010/main" val="15187992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 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32500" lnSpcReduction="20000"/>
          </a:bodyPr>
          <a:lstStyle/>
          <a:p>
            <a:endParaRPr lang="en-US" dirty="0"/>
          </a:p>
          <a:p>
            <a:r>
              <a:rPr lang="en-US" sz="5600" b="1" dirty="0"/>
              <a:t>Model Based Reflex Agent (MBRA)</a:t>
            </a:r>
          </a:p>
          <a:p>
            <a:r>
              <a:rPr lang="en-US" sz="5600" dirty="0"/>
              <a:t>A more advanced form of SRA</a:t>
            </a:r>
          </a:p>
          <a:p>
            <a:r>
              <a:rPr lang="en-US" sz="5600" dirty="0"/>
              <a:t>They have:</a:t>
            </a:r>
          </a:p>
          <a:p>
            <a:pPr lvl="1"/>
            <a:r>
              <a:rPr lang="en-US" sz="5600" dirty="0"/>
              <a:t>Internal state, which tracks changes in the environment </a:t>
            </a:r>
          </a:p>
          <a:p>
            <a:pPr lvl="1"/>
            <a:r>
              <a:rPr lang="en-US" sz="5600" dirty="0"/>
              <a:t>Model, which is knowledge of the world and performs their actions based on this model</a:t>
            </a:r>
          </a:p>
          <a:p>
            <a:pPr lvl="1"/>
            <a:endParaRPr lang="en-US" sz="5600" dirty="0"/>
          </a:p>
          <a:p>
            <a:r>
              <a:rPr lang="en-US" sz="5600" dirty="0"/>
              <a:t>Updating the agent state requires information about:</a:t>
            </a:r>
          </a:p>
          <a:p>
            <a:pPr lvl="1"/>
            <a:r>
              <a:rPr lang="en-US" sz="5600" dirty="0"/>
              <a:t>How the world evolves</a:t>
            </a:r>
          </a:p>
          <a:p>
            <a:pPr lvl="1"/>
            <a:r>
              <a:rPr lang="en-US" sz="5600" dirty="0"/>
              <a:t>How the agent's action affects the world </a:t>
            </a:r>
            <a:endParaRPr lang="en-US" dirty="0"/>
          </a:p>
          <a:p>
            <a:pPr marL="457189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57388"/>
            <a:ext cx="4038600" cy="2794100"/>
          </a:xfrm>
        </p:spPr>
      </p:pic>
    </p:spTree>
    <p:extLst>
      <p:ext uri="{BB962C8B-B14F-4D97-AF65-F5344CB8AC3E}">
        <p14:creationId xmlns:p14="http://schemas.microsoft.com/office/powerpoint/2010/main" val="1997076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/>
          </a:p>
          <a:p>
            <a:r>
              <a:rPr lang="en-US" sz="5600" b="1" dirty="0"/>
              <a:t>Goal Based Agent (GBA)</a:t>
            </a:r>
          </a:p>
          <a:p>
            <a:r>
              <a:rPr lang="en-US" sz="5600" dirty="0"/>
              <a:t>Goal-based agents expand the capabilities of the model-based agent by having the "goal“ information - which describes desirable situations and outcomes.</a:t>
            </a:r>
          </a:p>
          <a:p>
            <a:r>
              <a:rPr lang="en-US" sz="5600" dirty="0"/>
              <a:t>They choose an action, so that they can achieve the goal.</a:t>
            </a:r>
          </a:p>
          <a:p>
            <a:r>
              <a:rPr lang="en-US" sz="5600" dirty="0"/>
              <a:t> Agent of this kind takes feature events into consideration </a:t>
            </a:r>
            <a:br>
              <a:rPr lang="en-US" sz="5600" dirty="0"/>
            </a:br>
            <a:r>
              <a:rPr lang="en-US" sz="5600" dirty="0"/>
              <a:t>These agents may have to consider a long sequence of possible actions before deciding whether the goal is achieved or not. </a:t>
            </a:r>
          </a:p>
          <a:p>
            <a:r>
              <a:rPr lang="en-US" sz="5600" dirty="0"/>
              <a:t>Such considerations of different scenario are called searching and planning, which makes an agent proactive. </a:t>
            </a:r>
            <a:br>
              <a:rPr lang="en-US" sz="5600" dirty="0"/>
            </a:br>
            <a:br>
              <a:rPr lang="en-US" sz="5600" dirty="0"/>
            </a:br>
            <a:endParaRPr lang="en-US" sz="5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57388"/>
            <a:ext cx="4038600" cy="2794100"/>
          </a:xfrm>
        </p:spPr>
      </p:pic>
    </p:spTree>
    <p:extLst>
      <p:ext uri="{BB962C8B-B14F-4D97-AF65-F5344CB8AC3E}">
        <p14:creationId xmlns:p14="http://schemas.microsoft.com/office/powerpoint/2010/main" val="16953113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b="1" dirty="0"/>
              <a:t>Utility Based Agent (UBA)</a:t>
            </a:r>
          </a:p>
          <a:p>
            <a:r>
              <a:rPr lang="en-US" sz="2000" dirty="0"/>
              <a:t>These agents are similar to the goal-based agent but provide an extra component of utility</a:t>
            </a:r>
            <a:br>
              <a:rPr lang="en-US" sz="2000" dirty="0"/>
            </a:br>
            <a:r>
              <a:rPr lang="en-US" sz="2000" dirty="0"/>
              <a:t>measurement which makes them different by providing a measure of success at a given</a:t>
            </a:r>
            <a:br>
              <a:rPr lang="en-US" sz="2000" dirty="0"/>
            </a:br>
            <a:r>
              <a:rPr lang="en-US" sz="2000" dirty="0"/>
              <a:t>state. </a:t>
            </a:r>
          </a:p>
          <a:p>
            <a:r>
              <a:rPr lang="en-US" sz="2000" dirty="0"/>
              <a:t>Utility-based agent act based not only goals but also the best way to achieve the goal.  </a:t>
            </a:r>
          </a:p>
          <a:p>
            <a:r>
              <a:rPr lang="en-US" sz="2000" dirty="0"/>
              <a:t>They select actions that maximizes desirable outcome or situations</a:t>
            </a:r>
          </a:p>
          <a:p>
            <a:br>
              <a:rPr lang="en-US" sz="2000" dirty="0"/>
            </a:br>
            <a:r>
              <a:rPr lang="en-US" sz="2000" dirty="0"/>
              <a:t>The Utility-based agent is useful when there are multiple possible alternatives, and an agent</a:t>
            </a:r>
            <a:br>
              <a:rPr lang="en-US" sz="2000" dirty="0"/>
            </a:br>
            <a:r>
              <a:rPr lang="en-US" sz="2000" dirty="0"/>
              <a:t>has to choose in order to perform the best action. </a:t>
            </a:r>
            <a:br>
              <a:rPr lang="en-US" sz="2000" dirty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357388"/>
            <a:ext cx="4038600" cy="2794100"/>
          </a:xfrm>
        </p:spPr>
      </p:pic>
    </p:spTree>
    <p:extLst>
      <p:ext uri="{BB962C8B-B14F-4D97-AF65-F5344CB8AC3E}">
        <p14:creationId xmlns:p14="http://schemas.microsoft.com/office/powerpoint/2010/main" val="3563162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Week1: Types of Agent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Agents (LA)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Improve their performance based on previous experiences.</a:t>
            </a:r>
          </a:p>
          <a:p>
            <a:pPr lvl="1"/>
            <a:r>
              <a:rPr lang="en-US" dirty="0">
                <a:latin typeface="Arial" panose="020B0604020202020204" pitchFamily="34" charset="0"/>
              </a:rPr>
              <a:t>Continuously learn from feedback and adapt.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</a:rPr>
              <a:t>Example: A </a:t>
            </a:r>
            <a:r>
              <a:rPr lang="en-US" dirty="0" err="1">
                <a:latin typeface="Arial" panose="020B0604020202020204" pitchFamily="34" charset="0"/>
              </a:rPr>
              <a:t>chatbot</a:t>
            </a:r>
            <a:r>
              <a:rPr lang="en-US" dirty="0">
                <a:latin typeface="Arial" panose="020B0604020202020204" pitchFamily="34" charset="0"/>
              </a:rPr>
              <a:t> that becomes more accurate with user interactions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061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1: Review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lang="en-US" sz="1400" b="1" dirty="0"/>
              <a:t>Review Questions </a:t>
            </a:r>
          </a:p>
          <a:p>
            <a:pPr lvl="1"/>
            <a:endParaRPr lang="en-US" sz="1400" dirty="0"/>
          </a:p>
          <a:p>
            <a:pPr lvl="2"/>
            <a:r>
              <a:rPr lang="en-US" sz="1400" dirty="0"/>
              <a:t>What is Artificial Intelligence (AI), and how did Alan Turing contribute to its development?</a:t>
            </a:r>
          </a:p>
          <a:p>
            <a:pPr lvl="2"/>
            <a:r>
              <a:rPr lang="en-US" sz="1400" dirty="0"/>
              <a:t>Compare and contrast Weak AI, Strong AI, and Artificial Super Intelligence (ASI) with examples.</a:t>
            </a:r>
          </a:p>
          <a:p>
            <a:pPr lvl="2"/>
            <a:r>
              <a:rPr lang="en-US" sz="1400" dirty="0"/>
              <a:t>Explain the difference between goal-based and utility-based agents with real-world applications.</a:t>
            </a:r>
          </a:p>
          <a:p>
            <a:pPr lvl="2"/>
            <a:r>
              <a:rPr lang="en-US" sz="1400" dirty="0"/>
              <a:t>What is the Turing Test, and what is its significance in evaluating machine intelligence?</a:t>
            </a:r>
          </a:p>
          <a:p>
            <a:pPr lvl="2"/>
            <a:r>
              <a:rPr lang="en-US" sz="1400" dirty="0"/>
              <a:t>How does the Turing Test distinguish between human and AI responses?</a:t>
            </a:r>
          </a:p>
          <a:p>
            <a:pPr lvl="2"/>
            <a:r>
              <a:rPr lang="en-US" sz="1400" dirty="0"/>
              <a:t>Outline the major milestones in the history of AI from the 1950s to the present.</a:t>
            </a:r>
          </a:p>
          <a:p>
            <a:pPr lvl="2"/>
            <a:r>
              <a:rPr lang="en-US" sz="1400" dirty="0"/>
              <a:t>What are the key factors that have driven the growth of AI in the 21st century?</a:t>
            </a:r>
          </a:p>
          <a:p>
            <a:pPr lvl="2"/>
            <a:r>
              <a:rPr lang="en-US" sz="1400" dirty="0"/>
              <a:t>Identify and explain three real-world applications of AI in healthcare and finance.</a:t>
            </a:r>
          </a:p>
          <a:p>
            <a:pPr lvl="2"/>
            <a:r>
              <a:rPr lang="en-US" sz="1400" dirty="0"/>
              <a:t>How does AI improve the efficiency of autonomous vehicles?</a:t>
            </a:r>
          </a:p>
          <a:p>
            <a:pPr lvl="2"/>
            <a:r>
              <a:rPr lang="en-US" sz="1400" dirty="0"/>
              <a:t>What distinguishes a rational agent from a simple reflex agent?</a:t>
            </a:r>
          </a:p>
          <a:p>
            <a:pPr lvl="2"/>
            <a:r>
              <a:rPr lang="en-US" sz="1400" dirty="0"/>
              <a:t>Describe the PEAS model and give an example of its application in a smart home environment.</a:t>
            </a:r>
          </a:p>
          <a:p>
            <a:pPr lvl="2"/>
            <a:r>
              <a:rPr lang="en-US" sz="1400" dirty="0"/>
              <a:t>Explain the difference between deterministic and stochastic environments. Provide an example of each.</a:t>
            </a:r>
          </a:p>
          <a:p>
            <a:pPr lvl="2"/>
            <a:r>
              <a:rPr lang="en-US" sz="1400" dirty="0"/>
              <a:t>What are the characteristics of a dynamic environment, and why is it more challenging to model?</a:t>
            </a:r>
          </a:p>
        </p:txBody>
      </p:sp>
    </p:spTree>
    <p:extLst>
      <p:ext uri="{BB962C8B-B14F-4D97-AF65-F5344CB8AC3E}">
        <p14:creationId xmlns:p14="http://schemas.microsoft.com/office/powerpoint/2010/main" val="1041103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11795</TotalTime>
  <Words>3993</Words>
  <Application>Microsoft Office PowerPoint</Application>
  <PresentationFormat>On-screen Show (4:3)</PresentationFormat>
  <Paragraphs>457</Paragraphs>
  <Slides>49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Courier New</vt:lpstr>
      <vt:lpstr>Times New Roman</vt:lpstr>
      <vt:lpstr>Office Theme</vt:lpstr>
      <vt:lpstr>CSC309: Artificial Intelligence</vt:lpstr>
      <vt:lpstr>Course Content/Lecture Schedule/Course Books  </vt:lpstr>
      <vt:lpstr>Course Grading</vt:lpstr>
      <vt:lpstr> Mini Project : 20% </vt:lpstr>
      <vt:lpstr> Mini Project: 20% </vt:lpstr>
      <vt:lpstr>Week 1: Outline</vt:lpstr>
      <vt:lpstr>Week 1: What is Intelligence ?</vt:lpstr>
      <vt:lpstr>Week 1 : What is Artificial Intelligence (AI)?</vt:lpstr>
      <vt:lpstr>Week 1 : Why AI?</vt:lpstr>
      <vt:lpstr>Week 1 : Goals of AI</vt:lpstr>
      <vt:lpstr>Week 1 : Types/Stages of AI</vt:lpstr>
      <vt:lpstr>Week 1 : Types/Stages of AI</vt:lpstr>
      <vt:lpstr>Week 1 : Types/Stages of AI</vt:lpstr>
      <vt:lpstr>Week 1 : Turing Test</vt:lpstr>
      <vt:lpstr>Week 1 : Turing Test</vt:lpstr>
      <vt:lpstr>Week 1 : History of AI</vt:lpstr>
      <vt:lpstr>Week 1 : History of AI</vt:lpstr>
      <vt:lpstr>Week 1 : History of AI</vt:lpstr>
      <vt:lpstr>Week 1: History of AI</vt:lpstr>
      <vt:lpstr>Week 1: History of AI</vt:lpstr>
      <vt:lpstr>Week1: Branches of AI</vt:lpstr>
      <vt:lpstr>Week 1: Applications of AI</vt:lpstr>
      <vt:lpstr>Week 1: Applications of AI</vt:lpstr>
      <vt:lpstr>Week 1: Applications of AI</vt:lpstr>
      <vt:lpstr>Week 1: Pros and Cons of AI</vt:lpstr>
      <vt:lpstr>PowerPoint Presentation</vt:lpstr>
      <vt:lpstr>Week 1: Intelligent Agent</vt:lpstr>
      <vt:lpstr>Week 1 :Intelligent Agent</vt:lpstr>
      <vt:lpstr>Week 1:Intelligent Agent</vt:lpstr>
      <vt:lpstr>Week 1:Intelligent Agent</vt:lpstr>
      <vt:lpstr>Week 1:Intelligent Agent</vt:lpstr>
      <vt:lpstr>Week 1:Intelligent Agent-Vacuum Cleaner World</vt:lpstr>
      <vt:lpstr>Week 1:Intelligent Agent-Vacuum Cleaner World</vt:lpstr>
      <vt:lpstr>Week 1: Intelligent Agent</vt:lpstr>
      <vt:lpstr>Week 1: Rational Agent</vt:lpstr>
      <vt:lpstr>Week 1: Rational Agent</vt:lpstr>
      <vt:lpstr>Week 1: Task Environment</vt:lpstr>
      <vt:lpstr>Week 1: Task Environment</vt:lpstr>
      <vt:lpstr>Week 1: More PEAS Examples</vt:lpstr>
      <vt:lpstr>Week 1: Agents Environment</vt:lpstr>
      <vt:lpstr>Week 1: Types of Agent Environment</vt:lpstr>
      <vt:lpstr>Week 1: Types of Agent Environment</vt:lpstr>
      <vt:lpstr>Week 1:Types of Agent </vt:lpstr>
      <vt:lpstr>Week1: Types of Agent </vt:lpstr>
      <vt:lpstr>Week 1: Types of Agent </vt:lpstr>
      <vt:lpstr>Week1: Types of Agent </vt:lpstr>
      <vt:lpstr>Week1: Types of Agent </vt:lpstr>
      <vt:lpstr>Week1: Types of Agent </vt:lpstr>
      <vt:lpstr>Week 1: Review 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311:Principles of Artificial Intelligence Lecture 1: Introduction</dc:title>
  <dc:subject/>
  <dc:creator>NITRON 5</dc:creator>
  <cp:keywords/>
  <dc:description>generated using python-pptx</dc:description>
  <cp:lastModifiedBy>Aminu Ali</cp:lastModifiedBy>
  <cp:revision>99</cp:revision>
  <dcterms:created xsi:type="dcterms:W3CDTF">2013-01-27T09:14:16Z</dcterms:created>
  <dcterms:modified xsi:type="dcterms:W3CDTF">2026-03-11T08:15:05Z</dcterms:modified>
  <cp:category/>
</cp:coreProperties>
</file>