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81" r:id="rId2"/>
    <p:sldId id="257" r:id="rId3"/>
    <p:sldId id="259" r:id="rId4"/>
    <p:sldId id="282" r:id="rId5"/>
    <p:sldId id="283" r:id="rId6"/>
    <p:sldId id="284" r:id="rId7"/>
    <p:sldId id="285" r:id="rId8"/>
    <p:sldId id="324" r:id="rId9"/>
    <p:sldId id="323" r:id="rId10"/>
    <p:sldId id="322" r:id="rId11"/>
    <p:sldId id="326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11" r:id="rId34"/>
    <p:sldId id="329" r:id="rId35"/>
    <p:sldId id="312" r:id="rId36"/>
    <p:sldId id="313" r:id="rId37"/>
    <p:sldId id="314" r:id="rId38"/>
    <p:sldId id="316" r:id="rId39"/>
    <p:sldId id="317" r:id="rId40"/>
    <p:sldId id="318" r:id="rId41"/>
    <p:sldId id="319" r:id="rId42"/>
    <p:sldId id="320" r:id="rId43"/>
    <p:sldId id="321" r:id="rId44"/>
    <p:sldId id="32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9295E-6BF6-415B-BBE9-578E2CB4ADC3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FC238-5656-4EB3-8346-CF22D3E6C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96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E44C9D7-41EF-4153-823E-93B27A274DE9}" type="slidenum">
              <a:rPr lang="en-US">
                <a:latin typeface="Arial" panose="020B0604020202020204" pitchFamily="34" charset="0"/>
              </a:rPr>
              <a:pPr/>
              <a:t>14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9972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8F465CD-1FD8-4DBF-B1B7-74DD7325E9BB}" type="slidenum">
              <a:rPr lang="en-US">
                <a:latin typeface="Arial" panose="020B0604020202020204" pitchFamily="34" charset="0"/>
              </a:rPr>
              <a:pPr/>
              <a:t>15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2862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C8D6FBA-CA8C-4582-BB82-E9EFCF9B5FE0}" type="slidenum">
              <a:rPr lang="en-US">
                <a:latin typeface="Arial" panose="020B0604020202020204" pitchFamily="34" charset="0"/>
              </a:rPr>
              <a:pPr/>
              <a:t>16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3359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A19F46C-EB4A-42CC-B4A0-970B5450904A}" type="slidenum">
              <a:rPr lang="en-US">
                <a:latin typeface="Arial" panose="020B0604020202020204" pitchFamily="34" charset="0"/>
              </a:rPr>
              <a:pPr/>
              <a:t>17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9404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9AD7A1F-0E97-42E5-B3FD-A781C7E2C3A5}" type="slidenum">
              <a:rPr lang="en-US">
                <a:latin typeface="Arial" panose="020B0604020202020204" pitchFamily="34" charset="0"/>
              </a:rPr>
              <a:pPr/>
              <a:t>18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4391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481C197-81AD-4A0D-B2A9-711D2732E641}" type="slidenum">
              <a:rPr lang="en-US">
                <a:latin typeface="Arial" panose="020B0604020202020204" pitchFamily="34" charset="0"/>
              </a:rPr>
              <a:pPr/>
              <a:t>19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4872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C11EEB0-A40C-4C88-8E51-5639C4B09655}" type="slidenum">
              <a:rPr lang="en-US">
                <a:latin typeface="Arial" panose="020B0604020202020204" pitchFamily="34" charset="0"/>
              </a:rPr>
              <a:pPr/>
              <a:t>22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0677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D4C4EC0-C871-4C1F-943C-B7485FA785F6}" type="slidenum">
              <a:rPr lang="en-US">
                <a:latin typeface="Arial" panose="020B0604020202020204" pitchFamily="34" charset="0"/>
              </a:rPr>
              <a:pPr/>
              <a:t>23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9021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64E3B07-875B-4888-8ECD-D58B494F0308}" type="slidenum">
              <a:rPr lang="en-US">
                <a:latin typeface="Arial" panose="020B0604020202020204" pitchFamily="34" charset="0"/>
              </a:rPr>
              <a:pPr/>
              <a:t>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534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6544A92-9EA5-414C-BFBD-89FB00C97119}" type="slidenum">
              <a:rPr lang="en-US">
                <a:latin typeface="Arial" panose="020B0604020202020204" pitchFamily="34" charset="0"/>
              </a:rPr>
              <a:pPr/>
              <a:t>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8201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5102F39-33DE-44E1-81CB-0B33A72D3A9A}" type="slidenum">
              <a:rPr lang="en-US">
                <a:latin typeface="Arial" panose="020B0604020202020204" pitchFamily="34" charset="0"/>
              </a:rPr>
              <a:pPr/>
              <a:t>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6913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CC5F973-2CB9-4B8B-B8CE-DA8E5AB69530}" type="slidenum">
              <a:rPr lang="en-US">
                <a:latin typeface="Arial" panose="020B0604020202020204" pitchFamily="34" charset="0"/>
              </a:rPr>
              <a:pPr/>
              <a:t>27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116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3AC758C-182D-4418-826C-7C1C1AF37B78}" type="slidenum">
              <a:rPr lang="en-US">
                <a:latin typeface="Arial" panose="020B0604020202020204" pitchFamily="34" charset="0"/>
              </a:rPr>
              <a:pPr/>
              <a:t>28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0544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49A3381-814B-433C-8CEC-DA0F738C29E3}" type="slidenum">
              <a:rPr lang="en-US">
                <a:latin typeface="Arial" panose="020B0604020202020204" pitchFamily="34" charset="0"/>
              </a:rPr>
              <a:pPr/>
              <a:t>29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8808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874C52C-F279-49D4-A086-C62D82BA43B9}" type="slidenum">
              <a:rPr lang="en-US">
                <a:latin typeface="Arial" panose="020B0604020202020204" pitchFamily="34" charset="0"/>
              </a:rPr>
              <a:pPr/>
              <a:t>30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5222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E89AAFE-A54B-487D-AF18-83D4179DCFD3}" type="slidenum">
              <a:rPr lang="en-US">
                <a:latin typeface="Arial" panose="020B0604020202020204" pitchFamily="34" charset="0"/>
              </a:rPr>
              <a:pPr/>
              <a:t>31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414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0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4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2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9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0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3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29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1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0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66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6" y="214314"/>
            <a:ext cx="10390716" cy="852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524001"/>
            <a:ext cx="5664200" cy="460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3800" y="1524001"/>
            <a:ext cx="5666317" cy="460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 Jan 2004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 3243 - Blind Search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5868F5-61CD-4562-9BE8-80935D2BC37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0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26EED-FD31-4307-B8EF-08B3C0EA505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6E99F-729F-4358-B0BB-A2F3BEDCD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9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579" y="1122363"/>
            <a:ext cx="9813421" cy="23876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CSC 309: Artificial Intelligence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246" y="3886200"/>
            <a:ext cx="8077954" cy="1752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Ali Ahmad </a:t>
            </a:r>
            <a:r>
              <a:rPr lang="en-US" dirty="0" err="1"/>
              <a:t>Aminu</a:t>
            </a:r>
            <a:r>
              <a:rPr lang="en-US" dirty="0"/>
              <a:t>, PhD</a:t>
            </a:r>
          </a:p>
          <a:p>
            <a:pPr algn="l"/>
            <a:r>
              <a:rPr lang="en-US" dirty="0"/>
              <a:t>Computer Science Department, </a:t>
            </a:r>
            <a:r>
              <a:rPr lang="en-US" dirty="0" err="1"/>
              <a:t>Gombe</a:t>
            </a:r>
            <a:r>
              <a:rPr lang="en-US" dirty="0"/>
              <a:t> State University</a:t>
            </a:r>
          </a:p>
          <a:p>
            <a:pPr algn="l"/>
            <a:r>
              <a:rPr lang="en-US" dirty="0"/>
              <a:t>2025/2026 Session</a:t>
            </a:r>
          </a:p>
        </p:txBody>
      </p:sp>
    </p:spTree>
    <p:extLst>
      <p:ext uri="{BB962C8B-B14F-4D97-AF65-F5344CB8AC3E}">
        <p14:creationId xmlns:p14="http://schemas.microsoft.com/office/powerpoint/2010/main" val="235783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Week 2: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endParaRPr lang="en-US" sz="6400" b="1" dirty="0">
              <a:solidFill>
                <a:srgbClr val="D3A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0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                  Week 2: Outline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Search</a:t>
            </a:r>
          </a:p>
          <a:p>
            <a:r>
              <a:rPr lang="en-US" sz="2400" dirty="0"/>
              <a:t>Problem Solving by Search</a:t>
            </a:r>
          </a:p>
          <a:p>
            <a:r>
              <a:rPr lang="en-US" sz="2400" dirty="0"/>
              <a:t>Search Strategies</a:t>
            </a:r>
          </a:p>
          <a:p>
            <a:r>
              <a:rPr lang="en-US" sz="2400" dirty="0"/>
              <a:t>Uniformed Search </a:t>
            </a:r>
          </a:p>
          <a:p>
            <a:r>
              <a:rPr lang="en-US" sz="2400" dirty="0"/>
              <a:t>Informed Search</a:t>
            </a:r>
          </a:p>
          <a:p>
            <a:endParaRPr lang="en-US" sz="2400" dirty="0"/>
          </a:p>
          <a:p>
            <a:endParaRPr lang="en-US" sz="2667" dirty="0"/>
          </a:p>
          <a:p>
            <a:endParaRPr lang="en-US" sz="2667" dirty="0"/>
          </a:p>
        </p:txBody>
      </p:sp>
    </p:spTree>
    <p:extLst>
      <p:ext uri="{BB962C8B-B14F-4D97-AF65-F5344CB8AC3E}">
        <p14:creationId xmlns:p14="http://schemas.microsoft.com/office/powerpoint/2010/main" val="225499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Week 2: Introduction to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Search?</a:t>
            </a:r>
          </a:p>
          <a:p>
            <a:pPr lvl="1"/>
            <a:r>
              <a:rPr lang="en-US" dirty="0"/>
              <a:t>Search is a class of techniques for systematically finding or constructing solutions to problems.</a:t>
            </a:r>
          </a:p>
          <a:p>
            <a:pPr lvl="1"/>
            <a:r>
              <a:rPr lang="en-US" dirty="0"/>
              <a:t>Search is a fundamental technique in AI used to explore possible solutions to a problem by systematically examining different states (solutions)</a:t>
            </a:r>
          </a:p>
          <a:p>
            <a:r>
              <a:rPr lang="en-US" sz="2400" dirty="0"/>
              <a:t>In AI, search algorithms are used when:</a:t>
            </a:r>
          </a:p>
          <a:p>
            <a:pPr lvl="1"/>
            <a:r>
              <a:rPr lang="en-US" dirty="0"/>
              <a:t>The solution is not known in advance but can be discovered by navigating through different states or configurations</a:t>
            </a:r>
          </a:p>
          <a:p>
            <a:pPr lvl="1"/>
            <a:r>
              <a:rPr lang="en-US" dirty="0"/>
              <a:t>The problem can be broken down into states and transitions.</a:t>
            </a:r>
          </a:p>
          <a:p>
            <a:pPr lvl="1"/>
            <a:r>
              <a:rPr lang="en-US" dirty="0"/>
              <a:t>The goal is to find an optimal or feasible sequence of actions leading from an initial state to a desired goal state.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03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2: Why is search important in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Many real-world and AI problems can be modeled as </a:t>
            </a:r>
            <a:r>
              <a:rPr lang="en-US" sz="2400" b="1" dirty="0"/>
              <a:t>search problems, including:</a:t>
            </a:r>
            <a:r>
              <a:rPr lang="en-US" dirty="0"/>
              <a:t> </a:t>
            </a:r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pPr marL="228600" lvl="1">
              <a:spcBef>
                <a:spcPts val="1000"/>
              </a:spcBef>
            </a:pPr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142142"/>
              </p:ext>
            </p:extLst>
          </p:nvPr>
        </p:nvGraphicFramePr>
        <p:xfrm>
          <a:off x="1282582" y="2478282"/>
          <a:ext cx="8271616" cy="25295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2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4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Problem Type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Example Applications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Path Planning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Robot navigation, GPS route optimization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Puzzles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8-Puzzle, Sudoku, Rubik’s Cube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Games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Chess, Tic-Tac-Toe, Poker (adversarial search)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Scheduling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Job-shop scheduling, airline crew assignments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Optimization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Traveling Salesman Problem (TSP), resource allocation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733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2: </a:t>
            </a:r>
            <a:r>
              <a:rPr lang="en-US" b="1" dirty="0"/>
              <a:t>Problem Solving by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search problem is defined by </a:t>
            </a:r>
            <a:r>
              <a:rPr lang="en-US" b="1" dirty="0"/>
              <a:t>five key components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Initial State</a:t>
            </a:r>
            <a:r>
              <a:rPr lang="en-US" dirty="0"/>
              <a:t> (</a:t>
            </a:r>
            <a:r>
              <a:rPr lang="en-US" i="1" dirty="0"/>
              <a:t>s₀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The starting point of the search (e.g., a scrambled 8-puzzle).</a:t>
            </a:r>
          </a:p>
          <a:p>
            <a:pPr lvl="1"/>
            <a:r>
              <a:rPr lang="en-US" b="1" dirty="0"/>
              <a:t>Actions</a:t>
            </a:r>
            <a:r>
              <a:rPr lang="en-US" dirty="0"/>
              <a:t> (</a:t>
            </a:r>
            <a:r>
              <a:rPr lang="en-US" i="1" dirty="0"/>
              <a:t>Actions(a)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The set of possible moves from a given state (e.g., moving the blank tile in the 8-puzzle).</a:t>
            </a:r>
          </a:p>
          <a:p>
            <a:pPr lvl="1"/>
            <a:r>
              <a:rPr lang="en-US" b="1" dirty="0"/>
              <a:t>Transition Model</a:t>
            </a:r>
            <a:r>
              <a:rPr lang="en-US" dirty="0"/>
              <a:t> (</a:t>
            </a:r>
            <a:r>
              <a:rPr lang="en-US" i="1" dirty="0"/>
              <a:t>Result(s, a)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Describes the state resulting from taking action *a* in state *s*.</a:t>
            </a:r>
          </a:p>
          <a:p>
            <a:pPr lvl="2"/>
            <a:r>
              <a:rPr lang="en-US" dirty="0"/>
              <a:t>Defines the </a:t>
            </a:r>
            <a:r>
              <a:rPr lang="en-US" b="1" dirty="0"/>
              <a:t>state space</a:t>
            </a:r>
            <a:r>
              <a:rPr lang="en-US" dirty="0"/>
              <a:t> (all reachable states from </a:t>
            </a:r>
            <a:r>
              <a:rPr lang="en-US" i="1" dirty="0"/>
              <a:t>s₀</a:t>
            </a:r>
            <a:r>
              <a:rPr lang="en-US" dirty="0"/>
              <a:t> via actions).</a:t>
            </a:r>
          </a:p>
          <a:p>
            <a:pPr lvl="1"/>
            <a:r>
              <a:rPr lang="en-US" b="1" dirty="0"/>
              <a:t>Goal Test</a:t>
            </a:r>
            <a:r>
              <a:rPr lang="en-US" dirty="0"/>
              <a:t> (</a:t>
            </a:r>
            <a:r>
              <a:rPr lang="en-US" i="1" dirty="0"/>
              <a:t>Goal(s)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Determines whether a given state is a solution (e.g., tiles in correct order for the 8-puzzle).</a:t>
            </a:r>
          </a:p>
          <a:p>
            <a:pPr lvl="1"/>
            <a:r>
              <a:rPr lang="en-US" b="1" dirty="0"/>
              <a:t>Path Cost</a:t>
            </a:r>
            <a:r>
              <a:rPr lang="en-US" dirty="0"/>
              <a:t> (</a:t>
            </a:r>
            <a:r>
              <a:rPr lang="en-US" i="1" dirty="0"/>
              <a:t>c(s, a, s’)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Assigns a cost to each action (often used in optimization, e.g., number of moves in the 8-puzzle).</a:t>
            </a:r>
          </a:p>
        </p:txBody>
      </p:sp>
    </p:spTree>
    <p:extLst>
      <p:ext uri="{BB962C8B-B14F-4D97-AF65-F5344CB8AC3E}">
        <p14:creationId xmlns:p14="http://schemas.microsoft.com/office/powerpoint/2010/main" val="375865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2: </a:t>
            </a:r>
            <a:r>
              <a:rPr lang="en-US" b="1" dirty="0"/>
              <a:t>Problem Solving by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State Space representation</a:t>
            </a:r>
          </a:p>
          <a:p>
            <a:pPr lvl="0"/>
            <a:r>
              <a:rPr lang="en-US" dirty="0"/>
              <a:t>The state space forms a </a:t>
            </a:r>
            <a:r>
              <a:rPr lang="en-US" b="1" dirty="0"/>
              <a:t>graph: (V, E)</a:t>
            </a:r>
            <a:r>
              <a:rPr lang="en-US" dirty="0"/>
              <a:t> where: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i="1" dirty="0"/>
              <a:t>V </a:t>
            </a:r>
            <a:r>
              <a:rPr lang="en-US" dirty="0"/>
              <a:t>is a set of nodes (states)</a:t>
            </a:r>
            <a:br>
              <a:rPr lang="en-US" dirty="0"/>
            </a:br>
            <a:r>
              <a:rPr lang="en-US" dirty="0"/>
              <a:t>         </a:t>
            </a:r>
            <a:r>
              <a:rPr lang="en-US" i="1" dirty="0"/>
              <a:t>E </a:t>
            </a:r>
            <a:r>
              <a:rPr lang="en-US" dirty="0"/>
              <a:t>is a set of edges (actions)</a:t>
            </a:r>
            <a:br>
              <a:rPr lang="en-US" dirty="0"/>
            </a:br>
            <a:r>
              <a:rPr lang="en-US" dirty="0"/>
              <a:t>   Each edge is </a:t>
            </a:r>
            <a:r>
              <a:rPr lang="en-US" i="1" dirty="0"/>
              <a:t>directed </a:t>
            </a:r>
            <a:r>
              <a:rPr lang="en-US" dirty="0"/>
              <a:t>from one node to another node</a:t>
            </a:r>
          </a:p>
          <a:p>
            <a:pPr lvl="1"/>
            <a:r>
              <a:rPr lang="en-US" b="1" dirty="0"/>
              <a:t>Nodes</a:t>
            </a:r>
            <a:r>
              <a:rPr lang="en-US" dirty="0"/>
              <a:t>  corresponds to  States</a:t>
            </a:r>
          </a:p>
          <a:p>
            <a:pPr lvl="1"/>
            <a:r>
              <a:rPr lang="en-US" b="1" dirty="0"/>
              <a:t>Edges</a:t>
            </a:r>
            <a:r>
              <a:rPr lang="en-US" dirty="0"/>
              <a:t> corresponds to applicable  Actions</a:t>
            </a:r>
          </a:p>
          <a:p>
            <a:r>
              <a:rPr lang="en-US" dirty="0"/>
              <a:t>A </a:t>
            </a:r>
            <a:r>
              <a:rPr lang="en-US" b="1" dirty="0"/>
              <a:t>path </a:t>
            </a:r>
            <a:r>
              <a:rPr lang="en-US" dirty="0"/>
              <a:t>in the state space is a sequence of states connected by a sequence of actions.</a:t>
            </a:r>
          </a:p>
          <a:p>
            <a:pPr lvl="0"/>
            <a:r>
              <a:rPr lang="en-US" dirty="0"/>
              <a:t>A </a:t>
            </a:r>
            <a:r>
              <a:rPr lang="en-US" b="1" dirty="0"/>
              <a:t>solution</a:t>
            </a:r>
            <a:r>
              <a:rPr lang="en-US" dirty="0"/>
              <a:t> is a path from the initial state to a goal state.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68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5425"/>
            <a:ext cx="10972800" cy="1143000"/>
          </a:xfrm>
        </p:spPr>
        <p:txBody>
          <a:bodyPr/>
          <a:lstStyle/>
          <a:p>
            <a:pPr algn="ctr"/>
            <a:r>
              <a:rPr lang="en-US" b="1" dirty="0"/>
              <a:t>Week 2: Problem Solving by Search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1652" y="1825625"/>
            <a:ext cx="5618148" cy="4657476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 algn="just"/>
            <a:r>
              <a:rPr lang="en-US" sz="7200" b="1" dirty="0"/>
              <a:t>The 8-Puzzle </a:t>
            </a:r>
          </a:p>
          <a:p>
            <a:pPr algn="just"/>
            <a:r>
              <a:rPr lang="en-US" sz="7200" b="1" dirty="0"/>
              <a:t>Problem Statement:</a:t>
            </a:r>
            <a:r>
              <a:rPr lang="en-US" sz="7200" dirty="0"/>
              <a:t> Rearrange tiles from a scrambled initial state to a goal state.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6400" dirty="0"/>
              <a:t>       </a:t>
            </a:r>
          </a:p>
          <a:p>
            <a:endParaRPr lang="en-US" sz="6400" dirty="0"/>
          </a:p>
          <a:p>
            <a:r>
              <a:rPr lang="en-US" sz="6400" dirty="0"/>
              <a:t>Figure 1: 8 Puzzle initial and goal state</a:t>
            </a:r>
          </a:p>
          <a:p>
            <a:endParaRPr lang="en-US" sz="6400" dirty="0"/>
          </a:p>
          <a:p>
            <a:r>
              <a:rPr lang="en-US" sz="6400" b="1" i="1" dirty="0"/>
              <a:t>Rule: can slide a tile into the blank spot or move the blank spot around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7466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8829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  </a:t>
            </a:r>
          </a:p>
          <a:p>
            <a:r>
              <a:rPr lang="en-US" sz="7466" b="1" dirty="0"/>
              <a:t>Initial state </a:t>
            </a:r>
          </a:p>
          <a:p>
            <a:pPr lvl="1"/>
            <a:r>
              <a:rPr lang="en-US" sz="7466" dirty="0"/>
              <a:t>A random arrangement of the titles e.g. state shown on left of figure 1</a:t>
            </a:r>
          </a:p>
          <a:p>
            <a:r>
              <a:rPr lang="en-US" sz="7466" b="1" dirty="0"/>
              <a:t>Actions/Operations</a:t>
            </a:r>
          </a:p>
          <a:p>
            <a:pPr lvl="1"/>
            <a:r>
              <a:rPr lang="en-US" sz="7466" dirty="0"/>
              <a:t>Moving the blank up, down, left, right.  Can every action be performed in every state? </a:t>
            </a:r>
          </a:p>
          <a:p>
            <a:r>
              <a:rPr lang="en-US" sz="7466" b="1" dirty="0"/>
              <a:t>Transition Model</a:t>
            </a:r>
          </a:p>
          <a:p>
            <a:pPr lvl="1"/>
            <a:r>
              <a:rPr lang="en-US" sz="7200" dirty="0"/>
              <a:t> New state after moving the blank (e.g., moving _ up swaps it with the tile above).</a:t>
            </a:r>
          </a:p>
          <a:p>
            <a:r>
              <a:rPr lang="en-US" sz="7466" b="1" dirty="0"/>
              <a:t>Goal Test</a:t>
            </a:r>
          </a:p>
          <a:p>
            <a:pPr lvl="1"/>
            <a:r>
              <a:rPr lang="en-US" sz="7466" dirty="0"/>
              <a:t>be in a state where the tiles are all  in the positions shown on the right of figure 1</a:t>
            </a:r>
          </a:p>
          <a:p>
            <a:pPr lvl="0"/>
            <a:r>
              <a:rPr lang="en-US" sz="7200" b="1" dirty="0"/>
              <a:t>Path Cost:</a:t>
            </a:r>
            <a:r>
              <a:rPr lang="en-US" sz="7200" dirty="0"/>
              <a:t> Number of moves taken, optimal solution 	      minimizes total moves</a:t>
            </a:r>
          </a:p>
          <a:p>
            <a:endParaRPr lang="en-US" sz="7466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960524" y="2820011"/>
            <a:ext cx="4682953" cy="244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  Week 2: Problem Solving by Search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7725"/>
          </a:xfrm>
        </p:spPr>
        <p:txBody>
          <a:bodyPr/>
          <a:lstStyle/>
          <a:p>
            <a:pPr algn="just"/>
            <a:r>
              <a:rPr lang="en-US" sz="2400" b="1" dirty="0"/>
              <a:t>The Missionaries and Cannibals Problem</a:t>
            </a:r>
          </a:p>
          <a:p>
            <a:pPr algn="just"/>
            <a:r>
              <a:rPr lang="en-US" sz="2400" b="1" dirty="0"/>
              <a:t>Problem Statement: </a:t>
            </a:r>
            <a:r>
              <a:rPr lang="en-US" sz="2400" dirty="0"/>
              <a:t>3 missionaries and 3 cannibals must cross a river using a boat that holds up to 2 people. If cannibals ever outnumber missionaries on either shore, the missionaries are eaten.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373035"/>
              </p:ext>
            </p:extLst>
          </p:nvPr>
        </p:nvGraphicFramePr>
        <p:xfrm>
          <a:off x="1690167" y="3580687"/>
          <a:ext cx="7761481" cy="274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Initial State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(Left: 3M, 3C, Boat; Right: 0M, 0C)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Actions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Boat crossings with 1-2 people (e.g., "Move 1M + 1C to right").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Transition Model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Update counts on both shores after each valid move.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Goal Test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(Left: 0M, 0C; Right: 3M, 3C, Boat)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Path Cost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Each crossing = 1 (minimize total trips).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539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2: </a:t>
            </a:r>
            <a:r>
              <a:rPr lang="en-US" b="1" dirty="0"/>
              <a:t>Problem Solving by Search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44381" y="1825625"/>
            <a:ext cx="11511185" cy="4351338"/>
          </a:xfrm>
        </p:spPr>
        <p:txBody>
          <a:bodyPr>
            <a:normAutofit/>
          </a:bodyPr>
          <a:lstStyle/>
          <a:p>
            <a:r>
              <a:rPr lang="en-US" b="1" dirty="0"/>
              <a:t>Search Process</a:t>
            </a:r>
          </a:p>
          <a:p>
            <a:endParaRPr lang="en-US" b="1" dirty="0"/>
          </a:p>
          <a:p>
            <a:pPr lvl="1"/>
            <a:r>
              <a:rPr lang="en-US" b="1" dirty="0"/>
              <a:t>Exploration:</a:t>
            </a:r>
            <a:r>
              <a:rPr lang="en-US" dirty="0"/>
              <a:t> The agent generates a </a:t>
            </a:r>
            <a:r>
              <a:rPr lang="en-US" b="1" dirty="0"/>
              <a:t>search tree</a:t>
            </a:r>
            <a:r>
              <a:rPr lang="en-US" dirty="0"/>
              <a:t> (all possible action sequences).</a:t>
            </a:r>
          </a:p>
          <a:p>
            <a:pPr lvl="1"/>
            <a:r>
              <a:rPr lang="en-US" b="1" dirty="0"/>
              <a:t>Evaluation:</a:t>
            </a:r>
            <a:r>
              <a:rPr lang="en-US" dirty="0"/>
              <a:t> Selects paths likely to lead to the goal (using strategies like BFS, DFS, A*).</a:t>
            </a:r>
          </a:p>
          <a:p>
            <a:pPr lvl="1"/>
            <a:r>
              <a:rPr lang="en-US" b="1" dirty="0"/>
              <a:t>Termination:</a:t>
            </a:r>
            <a:r>
              <a:rPr lang="en-US" dirty="0"/>
              <a:t> Stops when a goal state is reached or all possibilities are exhausted.</a:t>
            </a:r>
          </a:p>
        </p:txBody>
      </p:sp>
    </p:spTree>
    <p:extLst>
      <p:ext uri="{BB962C8B-B14F-4D97-AF65-F5344CB8AC3E}">
        <p14:creationId xmlns:p14="http://schemas.microsoft.com/office/powerpoint/2010/main" val="350154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Week 1: Evaluating 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3467" b="1" dirty="0"/>
              <a:t>Completeness</a:t>
            </a:r>
            <a:r>
              <a:rPr lang="en-US" sz="3467" dirty="0"/>
              <a:t>: Will the search always find a solution if a solution exists?</a:t>
            </a:r>
          </a:p>
          <a:p>
            <a:pPr algn="just"/>
            <a:r>
              <a:rPr lang="en-US" sz="3467" b="1" dirty="0"/>
              <a:t>Time Complexity</a:t>
            </a:r>
            <a:r>
              <a:rPr lang="en-US" sz="3467" dirty="0"/>
              <a:t>: How long does it take to find a solution? Usually measured in terms of the number of nodes expanded</a:t>
            </a:r>
          </a:p>
          <a:p>
            <a:pPr algn="just"/>
            <a:r>
              <a:rPr lang="en-US" sz="3467" b="1" dirty="0"/>
              <a:t>Space Complexity</a:t>
            </a:r>
            <a:r>
              <a:rPr lang="en-US" sz="3467" dirty="0"/>
              <a:t>: How much space is used by the algorithm? Usually measured in terms of the maximum number of nodes that can be stored</a:t>
            </a:r>
          </a:p>
          <a:p>
            <a:pPr algn="just"/>
            <a:r>
              <a:rPr lang="en-US" sz="3467" b="1" dirty="0"/>
              <a:t>Optimality</a:t>
            </a:r>
            <a:r>
              <a:rPr lang="en-US" sz="3467" dirty="0"/>
              <a:t>: Will the search always find the least cost solution? (when actions have cost)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22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2: Search Strategies/Algorithms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Uninformed Search (aka Blind Search) </a:t>
            </a:r>
          </a:p>
          <a:p>
            <a:pPr lvl="1"/>
            <a:r>
              <a:rPr lang="en-US" sz="2800" dirty="0"/>
              <a:t>Adopt a fixed rule for selecting the next state/node to be expanded</a:t>
            </a:r>
          </a:p>
          <a:p>
            <a:pPr lvl="1"/>
            <a:r>
              <a:rPr lang="en-US" sz="2800" dirty="0"/>
              <a:t>Uses no information about the problem domain to guide the search </a:t>
            </a:r>
          </a:p>
          <a:p>
            <a:r>
              <a:rPr lang="en-US" b="1" dirty="0"/>
              <a:t>Uninformed Search Algorithms</a:t>
            </a:r>
          </a:p>
          <a:p>
            <a:pPr lvl="1"/>
            <a:r>
              <a:rPr lang="en-US" sz="2800" dirty="0"/>
              <a:t>Breadth First Search (BFS)</a:t>
            </a:r>
          </a:p>
          <a:p>
            <a:pPr lvl="1"/>
            <a:r>
              <a:rPr lang="en-US" sz="2800" dirty="0"/>
              <a:t>Depth First Search (DFS)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50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2: Breadth First Search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 outline</a:t>
            </a:r>
          </a:p>
          <a:p>
            <a:pPr lvl="1"/>
            <a:r>
              <a:rPr lang="en-US" sz="2800" dirty="0"/>
              <a:t>Always choose the node from the list (OPEN) that is at the smallest depth (closest to the starting point) and expand it. </a:t>
            </a:r>
          </a:p>
          <a:p>
            <a:pPr lvl="2"/>
            <a:r>
              <a:rPr lang="en-US" sz="2800" dirty="0"/>
              <a:t>Add any newly created nodes to the list (OPEN).</a:t>
            </a:r>
          </a:p>
          <a:p>
            <a:pPr lvl="1"/>
            <a:r>
              <a:rPr lang="en-US" sz="2800" dirty="0"/>
              <a:t>The list (OPEN) works like a queue, following a "first in, first out" (FIFO) order.</a:t>
            </a:r>
          </a:p>
          <a:p>
            <a:pPr lvl="1"/>
            <a:r>
              <a:rPr lang="en-US" sz="2800" dirty="0"/>
              <a:t>Terminate when the chosen node for expansion is the goal.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732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 descr="bfs-progress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040189"/>
            <a:ext cx="4267200" cy="281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388D487-EAE3-4073-B91F-579CFDCACEB0}" type="slidenum">
              <a:rPr lang="en-US"/>
              <a:pPr/>
              <a:t>14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1563986" y="299266"/>
            <a:ext cx="7793037" cy="852487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Week 2: Breadth-first search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407" y="1649589"/>
            <a:ext cx="10994759" cy="5208412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shallowest unexpanded node</a:t>
            </a:r>
          </a:p>
          <a:p>
            <a:pPr eaLnBrk="1" hangingPunct="1"/>
            <a:r>
              <a:rPr lang="en-US" i="1" dirty="0">
                <a:ea typeface="ＭＳ Ｐゴシック" panose="020B0600070205080204" pitchFamily="34" charset="-128"/>
              </a:rPr>
              <a:t>List/Open</a:t>
            </a:r>
            <a:r>
              <a:rPr lang="en-US" dirty="0">
                <a:ea typeface="ＭＳ Ｐゴシック" panose="020B0600070205080204" pitchFamily="34" charset="-128"/>
              </a:rPr>
              <a:t> (or fringe): nodes in queue to be explored</a:t>
            </a:r>
          </a:p>
          <a:p>
            <a:pPr eaLnBrk="1" hangingPunct="1"/>
            <a:r>
              <a:rPr lang="en-US" i="1" dirty="0">
                <a:ea typeface="ＭＳ Ｐゴシック" panose="020B0600070205080204" pitchFamily="34" charset="-128"/>
              </a:rPr>
              <a:t>List</a:t>
            </a:r>
            <a:r>
              <a:rPr lang="en-US" dirty="0">
                <a:ea typeface="ＭＳ Ｐゴシック" panose="020B0600070205080204" pitchFamily="34" charset="-128"/>
              </a:rPr>
              <a:t> is a first-in-first-out (FIFO) queue, i.e., new successors go to end of the queue.</a:t>
            </a:r>
          </a:p>
          <a:p>
            <a:pPr eaLnBrk="1" hangingPunct="1"/>
            <a:r>
              <a:rPr lang="en-US" i="1" dirty="0">
                <a:ea typeface="ＭＳ Ｐゴシック" panose="020B0600070205080204" pitchFamily="34" charset="-128"/>
              </a:rPr>
              <a:t>Goal-Test</a:t>
            </a:r>
            <a:r>
              <a:rPr lang="en-US" dirty="0">
                <a:ea typeface="ＭＳ Ｐゴシック" panose="020B0600070205080204" pitchFamily="34" charset="-128"/>
              </a:rPr>
              <a:t> when </a:t>
            </a:r>
            <a:r>
              <a:rPr 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inserted</a:t>
            </a:r>
            <a:r>
              <a:rPr lang="en-US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314576" y="4572001"/>
            <a:ext cx="248978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Initial state = A</a:t>
            </a:r>
          </a:p>
          <a:p>
            <a:r>
              <a:rPr lang="en-US" dirty="0">
                <a:solidFill>
                  <a:srgbClr val="FF0000"/>
                </a:solidFill>
              </a:rPr>
              <a:t>Is A </a:t>
            </a:r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A at end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[A]</a:t>
            </a:r>
          </a:p>
        </p:txBody>
      </p:sp>
      <p:sp>
        <p:nvSpPr>
          <p:cNvPr id="12295" name="TextBox 6"/>
          <p:cNvSpPr txBox="1">
            <a:spLocks noChangeArrowheads="1"/>
          </p:cNvSpPr>
          <p:nvPr/>
        </p:nvSpPr>
        <p:spPr bwMode="auto">
          <a:xfrm>
            <a:off x="7620000" y="3733800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1811578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12199" y="1600201"/>
            <a:ext cx="10169025" cy="4608513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shallowest unexpanded node</a:t>
            </a:r>
          </a:p>
          <a:p>
            <a:pPr eaLnBrk="1" hangingPunct="1"/>
            <a:r>
              <a:rPr lang="en-US" i="1" dirty="0">
                <a:ea typeface="ＭＳ Ｐゴシック" panose="020B0600070205080204" pitchFamily="34" charset="-128"/>
              </a:rPr>
              <a:t>List/Frontier</a:t>
            </a:r>
            <a:r>
              <a:rPr lang="en-US" dirty="0">
                <a:ea typeface="ＭＳ Ｐゴシック" panose="020B0600070205080204" pitchFamily="34" charset="-128"/>
              </a:rPr>
              <a:t> is a FIFO queue, i.e., new successors go at end</a:t>
            </a:r>
          </a:p>
        </p:txBody>
      </p:sp>
      <p:sp>
        <p:nvSpPr>
          <p:cNvPr id="1331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2EBA029-D2C9-4C70-B024-1053CFD68DBE}" type="slidenum">
              <a:rPr lang="en-US"/>
              <a:pPr/>
              <a:t>15</a:t>
            </a:fld>
            <a:endParaRPr lang="en-US"/>
          </a:p>
        </p:txBody>
      </p:sp>
      <p:pic>
        <p:nvPicPr>
          <p:cNvPr id="13316" name="Picture 5" descr="bfs-progress2c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709989"/>
            <a:ext cx="4343400" cy="2800351"/>
          </a:xfrm>
          <a:noFill/>
        </p:spPr>
      </p:pic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191407" y="424877"/>
            <a:ext cx="10390716" cy="85248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a typeface="ＭＳ Ｐゴシック" panose="020B0600070205080204" pitchFamily="34" charset="-128"/>
              </a:rPr>
              <a:t>Week 2: Breadth-first search</a:t>
            </a:r>
            <a:endParaRPr lang="en-US" dirty="0">
              <a:solidFill>
                <a:srgbClr val="F2CD44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395014" y="3836213"/>
            <a:ext cx="276665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A to B, C. </a:t>
            </a:r>
          </a:p>
          <a:p>
            <a:r>
              <a:rPr lang="en-US" dirty="0">
                <a:solidFill>
                  <a:srgbClr val="FF0000"/>
                </a:solidFill>
              </a:rPr>
              <a:t>Is B or C a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B, C at end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[B,C]</a:t>
            </a:r>
          </a:p>
        </p:txBody>
      </p:sp>
    </p:spTree>
    <p:extLst>
      <p:ext uri="{BB962C8B-B14F-4D97-AF65-F5344CB8AC3E}">
        <p14:creationId xmlns:p14="http://schemas.microsoft.com/office/powerpoint/2010/main" val="1911645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2D4D17A-734B-404B-AAA3-2633546C7350}" type="slidenum">
              <a:rPr lang="en-US"/>
              <a:pPr/>
              <a:t>16</a:t>
            </a:fld>
            <a:endParaRPr lang="en-US"/>
          </a:p>
        </p:txBody>
      </p:sp>
      <p:pic>
        <p:nvPicPr>
          <p:cNvPr id="14339" name="Picture 5" descr="bfs-progress3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25852"/>
            <a:ext cx="4343400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ea typeface="ＭＳ Ｐゴシック" panose="020B0600070205080204" pitchFamily="34" charset="-128"/>
              </a:rPr>
              <a:t>Week 2: Breadth-first search</a:t>
            </a:r>
            <a:endParaRPr lang="en-US" b="1" dirty="0">
              <a:ea typeface="ＭＳ Ｐゴシック" panose="020B0600070205080204" pitchFamily="34" charset="-128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shallowest unexpanded node</a:t>
            </a:r>
          </a:p>
          <a:p>
            <a:pPr eaLnBrk="1" hangingPunct="1"/>
            <a:r>
              <a:rPr lang="en-US" i="1" dirty="0">
                <a:ea typeface="ＭＳ Ｐゴシック" panose="020B0600070205080204" pitchFamily="34" charset="-128"/>
              </a:rPr>
              <a:t>Frontier </a:t>
            </a:r>
            <a:r>
              <a:rPr lang="en-US" dirty="0">
                <a:ea typeface="ＭＳ Ｐゴシック" panose="020B0600070205080204" pitchFamily="34" charset="-128"/>
              </a:rPr>
              <a:t>is a FIFO queue, i.e., new successors go at end</a:t>
            </a:r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1736726" y="414654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/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598621" y="3836213"/>
            <a:ext cx="2705677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B to D, E</a:t>
            </a:r>
          </a:p>
          <a:p>
            <a:r>
              <a:rPr lang="en-US" dirty="0">
                <a:solidFill>
                  <a:srgbClr val="FF0000"/>
                </a:solidFill>
              </a:rPr>
              <a:t>Is D or E a goal state?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D, E at end of queue</a:t>
            </a:r>
          </a:p>
          <a:p>
            <a:r>
              <a:rPr lang="en-US" dirty="0">
                <a:solidFill>
                  <a:srgbClr val="FF0000"/>
                </a:solidFill>
              </a:rPr>
              <a:t>frontier=[C,D,E]</a:t>
            </a:r>
          </a:p>
        </p:txBody>
      </p:sp>
    </p:spTree>
    <p:extLst>
      <p:ext uri="{BB962C8B-B14F-4D97-AF65-F5344CB8AC3E}">
        <p14:creationId xmlns:p14="http://schemas.microsoft.com/office/powerpoint/2010/main" val="28096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9E0C4AE-5F07-4795-8744-78BE73ACD5ED}" type="slidenum">
              <a:rPr lang="en-US"/>
              <a:pPr/>
              <a:t>17</a:t>
            </a:fld>
            <a:endParaRPr lang="en-US"/>
          </a:p>
        </p:txBody>
      </p:sp>
      <p:pic>
        <p:nvPicPr>
          <p:cNvPr id="15363" name="Picture 5" descr="bfs-progress4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663950"/>
            <a:ext cx="4648200" cy="2789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ea typeface="ＭＳ Ｐゴシック" panose="020B0600070205080204" pitchFamily="34" charset="-128"/>
              </a:rPr>
              <a:t>Week 2: Breadth-first search</a:t>
            </a:r>
            <a:endParaRPr lang="en-US" b="1" dirty="0">
              <a:ea typeface="ＭＳ Ｐゴシック" panose="020B0600070205080204" pitchFamily="34" charset="-128"/>
            </a:endParaRP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anose="020B0600070205080204" pitchFamily="34" charset="-128"/>
              </a:rPr>
              <a:t>Expand shallowest unexpanded node</a:t>
            </a:r>
          </a:p>
          <a:p>
            <a:pPr eaLnBrk="1" hangingPunct="1"/>
            <a:r>
              <a:rPr lang="en-US" i="1">
                <a:ea typeface="ＭＳ Ｐゴシック" panose="020B0600070205080204" pitchFamily="34" charset="-128"/>
              </a:rPr>
              <a:t>Frontier</a:t>
            </a:r>
            <a:r>
              <a:rPr lang="en-US">
                <a:ea typeface="ＭＳ Ｐゴシック" panose="020B0600070205080204" pitchFamily="34" charset="-128"/>
              </a:rPr>
              <a:t> is a FIFO queue, i.e., new successors go at end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598621" y="3836213"/>
            <a:ext cx="273658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C to F, G.</a:t>
            </a:r>
          </a:p>
          <a:p>
            <a:r>
              <a:rPr lang="en-US" dirty="0">
                <a:solidFill>
                  <a:srgbClr val="FF0000"/>
                </a:solidFill>
              </a:rPr>
              <a:t>Is F or G a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F, G at end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[D,E,F,G]</a:t>
            </a:r>
          </a:p>
        </p:txBody>
      </p:sp>
    </p:spTree>
    <p:extLst>
      <p:ext uri="{BB962C8B-B14F-4D97-AF65-F5344CB8AC3E}">
        <p14:creationId xmlns:p14="http://schemas.microsoft.com/office/powerpoint/2010/main" val="3419345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C20837D-D25D-46B4-AC07-6EE5DFCBD797}" type="slidenum">
              <a:rPr lang="en-US"/>
              <a:pPr/>
              <a:t>18</a:t>
            </a:fld>
            <a:endParaRPr lang="en-US"/>
          </a:p>
        </p:txBody>
      </p:sp>
      <p:pic>
        <p:nvPicPr>
          <p:cNvPr id="16387" name="Picture 5" descr="bfs-progress4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663950"/>
            <a:ext cx="4648200" cy="2789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ea typeface="ＭＳ Ｐゴシック" panose="020B0600070205080204" pitchFamily="34" charset="-128"/>
              </a:rPr>
              <a:t>Week 2: Breadth-first search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anose="020B0600070205080204" pitchFamily="34" charset="-128"/>
              </a:rPr>
              <a:t>Expand shallowest unexpanded node</a:t>
            </a:r>
          </a:p>
          <a:p>
            <a:pPr eaLnBrk="1" hangingPunct="1"/>
            <a:r>
              <a:rPr lang="en-US" i="1">
                <a:ea typeface="ＭＳ Ｐゴシック" panose="020B0600070205080204" pitchFamily="34" charset="-128"/>
              </a:rPr>
              <a:t>Frontier</a:t>
            </a:r>
            <a:r>
              <a:rPr lang="en-US">
                <a:ea typeface="ＭＳ Ｐゴシック" panose="020B0600070205080204" pitchFamily="34" charset="-128"/>
              </a:rPr>
              <a:t> is a FIFO queue, i.e., new successors go at end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77672" y="3750894"/>
            <a:ext cx="270689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D to no children.</a:t>
            </a:r>
          </a:p>
          <a:p>
            <a:r>
              <a:rPr lang="en-US" dirty="0">
                <a:solidFill>
                  <a:srgbClr val="FF0000"/>
                </a:solidFill>
              </a:rPr>
              <a:t>Forget D.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frontier = [E,F,G]</a:t>
            </a:r>
          </a:p>
        </p:txBody>
      </p:sp>
      <p:sp>
        <p:nvSpPr>
          <p:cNvPr id="16391" name="Oval 2"/>
          <p:cNvSpPr>
            <a:spLocks noChangeAspect="1"/>
          </p:cNvSpPr>
          <p:nvPr/>
        </p:nvSpPr>
        <p:spPr bwMode="auto">
          <a:xfrm>
            <a:off x="4418013" y="5900739"/>
            <a:ext cx="457200" cy="457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87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C31E4DB-C677-4F25-9CCE-EFA46731BAD0}" type="slidenum">
              <a:rPr lang="en-US"/>
              <a:pPr/>
              <a:t>19</a:t>
            </a:fld>
            <a:endParaRPr lang="en-US"/>
          </a:p>
        </p:txBody>
      </p:sp>
      <p:pic>
        <p:nvPicPr>
          <p:cNvPr id="17411" name="Picture 5" descr="bfs-progress4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663950"/>
            <a:ext cx="4648200" cy="2789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ea typeface="ＭＳ Ｐゴシック" panose="020B0600070205080204" pitchFamily="34" charset="-128"/>
              </a:rPr>
              <a:t>Week 2: Breadth-first search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anose="020B0600070205080204" pitchFamily="34" charset="-128"/>
              </a:rPr>
              <a:t>Expand shallowest unexpanded node</a:t>
            </a:r>
          </a:p>
          <a:p>
            <a:pPr eaLnBrk="1" hangingPunct="1"/>
            <a:r>
              <a:rPr lang="en-US" i="1">
                <a:ea typeface="ＭＳ Ｐゴシック" panose="020B0600070205080204" pitchFamily="34" charset="-128"/>
              </a:rPr>
              <a:t>Frontier</a:t>
            </a:r>
            <a:r>
              <a:rPr lang="en-US">
                <a:ea typeface="ＭＳ Ｐゴシック" panose="020B0600070205080204" pitchFamily="34" charset="-128"/>
              </a:rPr>
              <a:t> is a FIFO queue, i.e., new successors go at end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598620" y="3827462"/>
            <a:ext cx="26796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E to no children.</a:t>
            </a:r>
          </a:p>
          <a:p>
            <a:r>
              <a:rPr lang="en-US" dirty="0">
                <a:solidFill>
                  <a:srgbClr val="FF0000"/>
                </a:solidFill>
              </a:rPr>
              <a:t>Forget B,E.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frontier = [F,G]</a:t>
            </a:r>
          </a:p>
        </p:txBody>
      </p:sp>
      <p:sp>
        <p:nvSpPr>
          <p:cNvPr id="17415" name="Oval 2"/>
          <p:cNvSpPr>
            <a:spLocks noChangeAspect="1"/>
          </p:cNvSpPr>
          <p:nvPr/>
        </p:nvSpPr>
        <p:spPr bwMode="auto">
          <a:xfrm>
            <a:off x="4418013" y="5900739"/>
            <a:ext cx="457200" cy="457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/>
          </a:p>
        </p:txBody>
      </p:sp>
      <p:sp>
        <p:nvSpPr>
          <p:cNvPr id="17416" name="Oval 7"/>
          <p:cNvSpPr>
            <a:spLocks noChangeAspect="1"/>
          </p:cNvSpPr>
          <p:nvPr/>
        </p:nvSpPr>
        <p:spPr bwMode="auto">
          <a:xfrm>
            <a:off x="5032375" y="4821239"/>
            <a:ext cx="457200" cy="457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/>
          </a:p>
        </p:txBody>
      </p:sp>
      <p:sp>
        <p:nvSpPr>
          <p:cNvPr id="17417" name="Oval 8"/>
          <p:cNvSpPr>
            <a:spLocks noChangeAspect="1"/>
          </p:cNvSpPr>
          <p:nvPr/>
        </p:nvSpPr>
        <p:spPr bwMode="auto">
          <a:xfrm>
            <a:off x="5638800" y="5900739"/>
            <a:ext cx="457200" cy="457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51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2:Breadth First Search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BFS</a:t>
            </a:r>
          </a:p>
          <a:p>
            <a:r>
              <a:rPr lang="en-US" b="1" dirty="0"/>
              <a:t>Complete</a:t>
            </a:r>
          </a:p>
          <a:p>
            <a:pPr lvl="1"/>
            <a:r>
              <a:rPr lang="en-US" dirty="0"/>
              <a:t>Will always finds a solution if one exists</a:t>
            </a:r>
          </a:p>
          <a:p>
            <a:r>
              <a:rPr lang="en-US" b="1" dirty="0"/>
              <a:t>Optimal</a:t>
            </a:r>
          </a:p>
          <a:p>
            <a:pPr lvl="1"/>
            <a:r>
              <a:rPr lang="en-US" dirty="0"/>
              <a:t> if all operations have the same cost. Otherwise not optimal but finds solution with shortest path length </a:t>
            </a:r>
          </a:p>
          <a:p>
            <a:r>
              <a:rPr lang="en-US" b="1" dirty="0"/>
              <a:t>Exponential time and space complexity</a:t>
            </a:r>
          </a:p>
          <a:p>
            <a:pPr lvl="1"/>
            <a:r>
              <a:rPr lang="en-US" dirty="0"/>
              <a:t>O(</a:t>
            </a:r>
            <a:r>
              <a:rPr lang="en-US" dirty="0" err="1"/>
              <a:t>b</a:t>
            </a:r>
            <a:r>
              <a:rPr lang="en-US" baseline="30000" dirty="0" err="1"/>
              <a:t>d</a:t>
            </a:r>
            <a:r>
              <a:rPr lang="en-US" dirty="0"/>
              <a:t>) nodes will be generated, where d is the depth of the solution and b is the branching factor (number of children at each node)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66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Depth First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Algorithm outline</a:t>
            </a:r>
          </a:p>
          <a:p>
            <a:pPr lvl="1"/>
            <a:r>
              <a:rPr lang="en-US" sz="3200" dirty="0"/>
              <a:t>Always select from the OPEN the node with the greatest depth for expansion and put all newly generated nodes in OPEN</a:t>
            </a:r>
          </a:p>
          <a:p>
            <a:pPr lvl="1"/>
            <a:r>
              <a:rPr lang="en-US" sz="3200" dirty="0"/>
              <a:t>OPEN is organized as LIFO (Last in First Out) list, i.e. a stack</a:t>
            </a:r>
          </a:p>
          <a:p>
            <a:pPr lvl="1"/>
            <a:r>
              <a:rPr lang="en-US" sz="3200" dirty="0"/>
              <a:t>Terminate if a node selected for expansion is a goal</a:t>
            </a:r>
          </a:p>
        </p:txBody>
      </p:sp>
    </p:spTree>
    <p:extLst>
      <p:ext uri="{BB962C8B-B14F-4D97-AF65-F5344CB8AC3E}">
        <p14:creationId xmlns:p14="http://schemas.microsoft.com/office/powerpoint/2010/main" val="3736886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134C59A-07D2-40E1-B9FD-FBC32A5617F9}" type="slidenum">
              <a:rPr lang="en-US"/>
              <a:pPr/>
              <a:t>22</a:t>
            </a:fld>
            <a:endParaRPr lang="en-US"/>
          </a:p>
        </p:txBody>
      </p:sp>
      <p:pic>
        <p:nvPicPr>
          <p:cNvPr id="24579" name="Picture 4" descr="dfs-progress0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429000"/>
            <a:ext cx="5181600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407" y="1757538"/>
            <a:ext cx="10994760" cy="4929169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</a:t>
            </a:r>
            <a:r>
              <a:rPr lang="en-US" i="1" dirty="0">
                <a:ea typeface="ＭＳ Ｐゴシック" panose="020B0600070205080204" pitchFamily="34" charset="-128"/>
              </a:rPr>
              <a:t>deepest</a:t>
            </a:r>
            <a:r>
              <a:rPr lang="en-US" dirty="0">
                <a:ea typeface="ＭＳ Ｐゴシック" panose="020B0600070205080204" pitchFamily="34" charset="-128"/>
              </a:rPr>
              <a:t> unexpanded node</a:t>
            </a:r>
          </a:p>
          <a:p>
            <a:pPr eaLnBrk="1" hangingPunct="1"/>
            <a:r>
              <a:rPr lang="en-US" sz="2400" i="1" dirty="0">
                <a:ea typeface="ＭＳ Ｐゴシック" panose="020B0600070205080204" pitchFamily="34" charset="-128"/>
              </a:rPr>
              <a:t>Frontier </a:t>
            </a:r>
            <a:r>
              <a:rPr lang="en-US" sz="2400" dirty="0">
                <a:ea typeface="ＭＳ Ｐゴシック" panose="020B0600070205080204" pitchFamily="34" charset="-128"/>
              </a:rPr>
              <a:t>= Last In First Out (LIFO) queue, i.e., new successors go at the front of the queue.</a:t>
            </a:r>
          </a:p>
          <a:p>
            <a:pPr eaLnBrk="1" hangingPunct="1"/>
            <a:r>
              <a:rPr lang="en-US" sz="2400" i="1" dirty="0">
                <a:ea typeface="ＭＳ Ｐゴシック" panose="020B0600070205080204" pitchFamily="34" charset="-128"/>
              </a:rPr>
              <a:t>Goal-Test</a:t>
            </a:r>
            <a:r>
              <a:rPr lang="en-US" sz="2400" dirty="0">
                <a:ea typeface="ＭＳ Ｐゴシック" panose="020B0600070205080204" pitchFamily="34" charset="-128"/>
              </a:rPr>
              <a:t> when </a:t>
            </a:r>
            <a:r>
              <a:rPr lang="en-US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inserted</a:t>
            </a:r>
            <a:r>
              <a:rPr lang="en-US" sz="2400" dirty="0"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sz="2400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24582" name="Text Box 8"/>
          <p:cNvSpPr txBox="1">
            <a:spLocks noChangeArrowheads="1"/>
          </p:cNvSpPr>
          <p:nvPr/>
        </p:nvSpPr>
        <p:spPr bwMode="auto">
          <a:xfrm>
            <a:off x="790936" y="3592805"/>
            <a:ext cx="259648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Initial state = A</a:t>
            </a:r>
          </a:p>
          <a:p>
            <a:r>
              <a:rPr lang="en-US" dirty="0">
                <a:solidFill>
                  <a:srgbClr val="FF0000"/>
                </a:solidFill>
              </a:rPr>
              <a:t>Is A </a:t>
            </a:r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A at front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[A]</a:t>
            </a:r>
          </a:p>
        </p:txBody>
      </p:sp>
      <p:sp>
        <p:nvSpPr>
          <p:cNvPr id="24583" name="TextBox 6"/>
          <p:cNvSpPr txBox="1">
            <a:spLocks noChangeArrowheads="1"/>
          </p:cNvSpPr>
          <p:nvPr/>
        </p:nvSpPr>
        <p:spPr bwMode="auto">
          <a:xfrm>
            <a:off x="8341367" y="2898684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3953172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CB3ACD1-B83F-4734-B26D-4B2C39AE298C}" type="slidenum">
              <a:rPr lang="en-US"/>
              <a:pPr/>
              <a:t>23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407" y="1685998"/>
            <a:ext cx="10994760" cy="4682951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 dirty="0">
                <a:ea typeface="ＭＳ Ｐゴシック" panose="020B0600070205080204" pitchFamily="34" charset="-128"/>
              </a:rPr>
              <a:t>Frontier </a:t>
            </a:r>
            <a:r>
              <a:rPr lang="en-US" dirty="0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pic>
        <p:nvPicPr>
          <p:cNvPr id="25605" name="Picture 5" descr="dfs-progress02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505" y="2681893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 Box 7"/>
          <p:cNvSpPr txBox="1">
            <a:spLocks noChangeArrowheads="1"/>
          </p:cNvSpPr>
          <p:nvPr/>
        </p:nvSpPr>
        <p:spPr bwMode="auto">
          <a:xfrm>
            <a:off x="395014" y="2971800"/>
            <a:ext cx="287335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A to B, C. </a:t>
            </a:r>
          </a:p>
          <a:p>
            <a:r>
              <a:rPr lang="en-US" dirty="0">
                <a:solidFill>
                  <a:srgbClr val="FF0000"/>
                </a:solidFill>
              </a:rPr>
              <a:t>Is B or C a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B, C at front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[B,C]</a:t>
            </a:r>
          </a:p>
        </p:txBody>
      </p:sp>
      <p:sp>
        <p:nvSpPr>
          <p:cNvPr id="25608" name="TextBox 7"/>
          <p:cNvSpPr txBox="1">
            <a:spLocks noChangeArrowheads="1"/>
          </p:cNvSpPr>
          <p:nvPr/>
        </p:nvSpPr>
        <p:spPr bwMode="auto">
          <a:xfrm>
            <a:off x="8957604" y="2846616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3161201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83AAF23-D9BF-4D0C-A222-EF503332FA88}" type="slidenum">
              <a:rPr lang="en-US"/>
              <a:pPr/>
              <a:t>24</a:t>
            </a:fld>
            <a:endParaRPr lang="en-US"/>
          </a:p>
        </p:txBody>
      </p:sp>
      <p:pic>
        <p:nvPicPr>
          <p:cNvPr id="26627" name="Picture 5" descr="dfs-progress03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48000"/>
            <a:ext cx="5181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 dirty="0">
                <a:ea typeface="ＭＳ Ｐゴシック" panose="020B0600070205080204" pitchFamily="34" charset="-128"/>
              </a:rPr>
              <a:t>Frontier </a:t>
            </a:r>
            <a:r>
              <a:rPr lang="en-US" dirty="0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598620" y="2817911"/>
            <a:ext cx="288290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B to D, E. </a:t>
            </a:r>
          </a:p>
          <a:p>
            <a:r>
              <a:rPr lang="en-US" dirty="0">
                <a:solidFill>
                  <a:srgbClr val="FF0000"/>
                </a:solidFill>
              </a:rPr>
              <a:t>Is D or E a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D, E at front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[D,E,C]</a:t>
            </a:r>
          </a:p>
        </p:txBody>
      </p:sp>
      <p:sp>
        <p:nvSpPr>
          <p:cNvPr id="26631" name="TextBox 6"/>
          <p:cNvSpPr txBox="1">
            <a:spLocks noChangeArrowheads="1"/>
          </p:cNvSpPr>
          <p:nvPr/>
        </p:nvSpPr>
        <p:spPr bwMode="auto">
          <a:xfrm>
            <a:off x="8539280" y="2839492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2409703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C78B14-7812-4A60-8623-2FFC3728702C}" type="slidenum">
              <a:rPr lang="en-US"/>
              <a:pPr/>
              <a:t>25</a:t>
            </a:fld>
            <a:endParaRPr lang="en-US"/>
          </a:p>
        </p:txBody>
      </p:sp>
      <p:pic>
        <p:nvPicPr>
          <p:cNvPr id="27651" name="Picture 5" descr="dfs-progress04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48002"/>
            <a:ext cx="5181600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>
          <a:xfrm>
            <a:off x="2018952" y="375276"/>
            <a:ext cx="7793037" cy="852487"/>
          </a:xfrm>
        </p:spPr>
        <p:txBody>
          <a:bodyPr>
            <a:normAutofit/>
          </a:bodyPr>
          <a:lstStyle/>
          <a:p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2765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 dirty="0">
                <a:ea typeface="ＭＳ Ｐゴシック" panose="020B0600070205080204" pitchFamily="34" charset="-128"/>
              </a:rPr>
              <a:t>Frontier </a:t>
            </a:r>
            <a:r>
              <a:rPr lang="en-US" dirty="0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sp>
        <p:nvSpPr>
          <p:cNvPr id="27654" name="Text Box 7"/>
          <p:cNvSpPr txBox="1">
            <a:spLocks noChangeArrowheads="1"/>
          </p:cNvSpPr>
          <p:nvPr/>
        </p:nvSpPr>
        <p:spPr bwMode="auto">
          <a:xfrm>
            <a:off x="597281" y="2915927"/>
            <a:ext cx="284334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D to H, I. </a:t>
            </a:r>
          </a:p>
          <a:p>
            <a:r>
              <a:rPr lang="en-US" dirty="0">
                <a:solidFill>
                  <a:srgbClr val="FF0000"/>
                </a:solidFill>
              </a:rPr>
              <a:t>Is H or I a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H, I at front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[H,I,E,C]</a:t>
            </a:r>
          </a:p>
        </p:txBody>
      </p:sp>
      <p:sp>
        <p:nvSpPr>
          <p:cNvPr id="27655" name="TextBox 6"/>
          <p:cNvSpPr txBox="1">
            <a:spLocks noChangeArrowheads="1"/>
          </p:cNvSpPr>
          <p:nvPr/>
        </p:nvSpPr>
        <p:spPr bwMode="auto">
          <a:xfrm>
            <a:off x="8686800" y="3021348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3792278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432EF40-1304-45DC-952E-4B0FC0E95721}" type="slidenum">
              <a:rPr lang="en-US"/>
              <a:pPr/>
              <a:t>26</a:t>
            </a:fld>
            <a:endParaRPr lang="en-US"/>
          </a:p>
        </p:txBody>
      </p:sp>
      <p:pic>
        <p:nvPicPr>
          <p:cNvPr id="28675" name="Picture 5" descr="dfs-progress05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48000"/>
            <a:ext cx="5181600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 dirty="0">
                <a:ea typeface="ＭＳ Ｐゴシック" panose="020B0600070205080204" pitchFamily="34" charset="-128"/>
              </a:rPr>
              <a:t>Frontier </a:t>
            </a:r>
            <a:r>
              <a:rPr lang="en-US" dirty="0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634308" y="2910515"/>
            <a:ext cx="270529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H to no children.</a:t>
            </a:r>
          </a:p>
          <a:p>
            <a:r>
              <a:rPr lang="en-US" dirty="0">
                <a:solidFill>
                  <a:srgbClr val="FF0000"/>
                </a:solidFill>
              </a:rPr>
              <a:t>Forget H.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frontier = [I,E,C]</a:t>
            </a:r>
          </a:p>
        </p:txBody>
      </p:sp>
      <p:sp>
        <p:nvSpPr>
          <p:cNvPr id="28679" name="TextBox 6"/>
          <p:cNvSpPr txBox="1">
            <a:spLocks noChangeArrowheads="1"/>
          </p:cNvSpPr>
          <p:nvPr/>
        </p:nvSpPr>
        <p:spPr bwMode="auto">
          <a:xfrm>
            <a:off x="8335673" y="2673552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642944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3030FF9-FD76-4162-81EA-DBA169B1012C}" type="slidenum">
              <a:rPr lang="en-US"/>
              <a:pPr/>
              <a:t>27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>
                <a:ea typeface="ＭＳ Ｐゴシック" panose="020B0600070205080204" pitchFamily="34" charset="-128"/>
              </a:rPr>
              <a:t>Frontier </a:t>
            </a:r>
            <a:r>
              <a:rPr lang="en-US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pic>
        <p:nvPicPr>
          <p:cNvPr id="29701" name="Picture 6" descr="dfs-progress06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48001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696809" y="2818181"/>
            <a:ext cx="26363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I to no children.</a:t>
            </a:r>
          </a:p>
          <a:p>
            <a:r>
              <a:rPr lang="en-US" dirty="0">
                <a:solidFill>
                  <a:srgbClr val="FF0000"/>
                </a:solidFill>
              </a:rPr>
              <a:t>Forget D, I.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frontier = [E,C]</a:t>
            </a:r>
          </a:p>
        </p:txBody>
      </p:sp>
      <p:sp>
        <p:nvSpPr>
          <p:cNvPr id="29703" name="TextBox 6"/>
          <p:cNvSpPr txBox="1">
            <a:spLocks noChangeArrowheads="1"/>
          </p:cNvSpPr>
          <p:nvPr/>
        </p:nvSpPr>
        <p:spPr bwMode="auto">
          <a:xfrm>
            <a:off x="8335673" y="2722563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2821113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48932C5-DB3D-4C22-84FF-A053534C8BB3}" type="slidenum">
              <a:rPr lang="en-US"/>
              <a:pPr/>
              <a:t>28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>
                <a:ea typeface="ＭＳ Ｐゴシック" panose="020B0600070205080204" pitchFamily="34" charset="-128"/>
              </a:rPr>
              <a:t>Frontier </a:t>
            </a:r>
            <a:r>
              <a:rPr lang="en-US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pic>
        <p:nvPicPr>
          <p:cNvPr id="30725" name="Picture 4" descr="dfs-progress0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124202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6" descr="dfs-progress07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680" y="3050934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491941" y="2809621"/>
            <a:ext cx="283167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E to J, K. </a:t>
            </a:r>
          </a:p>
          <a:p>
            <a:r>
              <a:rPr lang="en-US" dirty="0">
                <a:solidFill>
                  <a:srgbClr val="FF0000"/>
                </a:solidFill>
              </a:rPr>
              <a:t>Is J or K a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J, K at front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[J,K,C]</a:t>
            </a:r>
          </a:p>
        </p:txBody>
      </p:sp>
      <p:sp>
        <p:nvSpPr>
          <p:cNvPr id="30728" name="TextBox 7"/>
          <p:cNvSpPr txBox="1">
            <a:spLocks noChangeArrowheads="1"/>
          </p:cNvSpPr>
          <p:nvPr/>
        </p:nvSpPr>
        <p:spPr bwMode="auto">
          <a:xfrm>
            <a:off x="8539280" y="2809622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2672097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99F57A2-1B9C-4F59-A37B-EE5F445E8A3E}" type="slidenum">
              <a:rPr lang="en-US"/>
              <a:pPr/>
              <a:t>29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 dirty="0">
                <a:ea typeface="ＭＳ Ｐゴシック" panose="020B0600070205080204" pitchFamily="34" charset="-128"/>
              </a:rPr>
              <a:t>Frontier </a:t>
            </a:r>
            <a:r>
              <a:rPr lang="en-US" dirty="0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pic>
        <p:nvPicPr>
          <p:cNvPr id="31749" name="Picture 4" descr="dfs-progress0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124202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6" descr="dfs-progress08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3021787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611397" y="2715727"/>
            <a:ext cx="26363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I to no children.</a:t>
            </a:r>
          </a:p>
          <a:p>
            <a:r>
              <a:rPr lang="en-US" dirty="0">
                <a:solidFill>
                  <a:srgbClr val="FF0000"/>
                </a:solidFill>
              </a:rPr>
              <a:t>Forget D, I.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frontier = [E,C]</a:t>
            </a:r>
          </a:p>
        </p:txBody>
      </p:sp>
      <p:sp>
        <p:nvSpPr>
          <p:cNvPr id="31752" name="TextBox 7"/>
          <p:cNvSpPr txBox="1">
            <a:spLocks noChangeArrowheads="1"/>
          </p:cNvSpPr>
          <p:nvPr/>
        </p:nvSpPr>
        <p:spPr bwMode="auto">
          <a:xfrm>
            <a:off x="8539280" y="2715727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2558989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7B092B6-3918-4F80-A69D-769C07D0FE69}" type="slidenum">
              <a:rPr lang="en-US"/>
              <a:pPr/>
              <a:t>30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>
                <a:ea typeface="ＭＳ Ｐゴシック" panose="020B0600070205080204" pitchFamily="34" charset="-128"/>
              </a:rPr>
              <a:t>Frontier </a:t>
            </a:r>
            <a:r>
              <a:rPr lang="en-US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pic>
        <p:nvPicPr>
          <p:cNvPr id="32773" name="Picture 4" descr="dfs-progress0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124202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 descr="dfs-progress09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48001"/>
            <a:ext cx="5181600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639995" y="2910515"/>
            <a:ext cx="268605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K to no children.</a:t>
            </a:r>
          </a:p>
          <a:p>
            <a:r>
              <a:rPr lang="en-US" dirty="0">
                <a:solidFill>
                  <a:srgbClr val="FF0000"/>
                </a:solidFill>
              </a:rPr>
              <a:t>Forget B, E, K.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frontier = [C]</a:t>
            </a:r>
          </a:p>
        </p:txBody>
      </p:sp>
      <p:sp>
        <p:nvSpPr>
          <p:cNvPr id="32776" name="TextBox 7"/>
          <p:cNvSpPr txBox="1">
            <a:spLocks noChangeArrowheads="1"/>
          </p:cNvSpPr>
          <p:nvPr/>
        </p:nvSpPr>
        <p:spPr bwMode="auto">
          <a:xfrm>
            <a:off x="8204040" y="2823380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3995561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32" indent="-28574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2971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160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349" indent="-228594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5C77DA2-1496-4830-B638-3B2784C0B32D}" type="slidenum">
              <a:rPr lang="en-US"/>
              <a:pPr/>
              <a:t>31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anose="020B0600070205080204" pitchFamily="34" charset="-128"/>
              </a:rPr>
              <a:t>Expand deepest unexpanded node</a:t>
            </a:r>
          </a:p>
          <a:p>
            <a:pPr lvl="1" eaLnBrk="1" hangingPunct="1"/>
            <a:r>
              <a:rPr lang="en-US" i="1">
                <a:ea typeface="ＭＳ Ｐゴシック" panose="020B0600070205080204" pitchFamily="34" charset="-128"/>
              </a:rPr>
              <a:t>Frontier </a:t>
            </a:r>
            <a:r>
              <a:rPr lang="en-US">
                <a:ea typeface="ＭＳ Ｐゴシック" panose="020B0600070205080204" pitchFamily="34" charset="-128"/>
              </a:rPr>
              <a:t>= LIFO queue, i.e., put successors at front</a:t>
            </a:r>
          </a:p>
        </p:txBody>
      </p:sp>
      <p:pic>
        <p:nvPicPr>
          <p:cNvPr id="33797" name="Picture 4" descr="dfs-progress0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124202"/>
            <a:ext cx="4419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6" descr="dfs-progress10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48001"/>
            <a:ext cx="5181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615417" y="3418075"/>
            <a:ext cx="284327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Expand C to F, G. </a:t>
            </a:r>
          </a:p>
          <a:p>
            <a:r>
              <a:rPr lang="en-US" dirty="0">
                <a:solidFill>
                  <a:srgbClr val="FF0000"/>
                </a:solidFill>
              </a:rPr>
              <a:t>Is F or G a goal state?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Put F, G at front of queue.</a:t>
            </a:r>
          </a:p>
          <a:p>
            <a:r>
              <a:rPr lang="en-US" dirty="0">
                <a:solidFill>
                  <a:srgbClr val="FF0000"/>
                </a:solidFill>
              </a:rPr>
              <a:t>frontier = [F,G]</a:t>
            </a:r>
          </a:p>
        </p:txBody>
      </p:sp>
      <p:sp>
        <p:nvSpPr>
          <p:cNvPr id="33800" name="TextBox 7"/>
          <p:cNvSpPr txBox="1">
            <a:spLocks noChangeArrowheads="1"/>
          </p:cNvSpPr>
          <p:nvPr/>
        </p:nvSpPr>
        <p:spPr bwMode="auto">
          <a:xfrm>
            <a:off x="8539280" y="2941294"/>
            <a:ext cx="2895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400" dirty="0"/>
              <a:t>Future= green dotted circles</a:t>
            </a:r>
          </a:p>
          <a:p>
            <a:r>
              <a:rPr lang="en-US" sz="1400" dirty="0"/>
              <a:t>Frontier=white nodes</a:t>
            </a:r>
          </a:p>
          <a:p>
            <a:r>
              <a:rPr lang="en-US" sz="1400" dirty="0"/>
              <a:t>Expanded/active=gray nodes</a:t>
            </a:r>
          </a:p>
          <a:p>
            <a:r>
              <a:rPr lang="en-US" sz="1400" dirty="0"/>
              <a:t>Forgotten/reclaimed= black nodes</a:t>
            </a:r>
          </a:p>
        </p:txBody>
      </p:sp>
    </p:spTree>
    <p:extLst>
      <p:ext uri="{BB962C8B-B14F-4D97-AF65-F5344CB8AC3E}">
        <p14:creationId xmlns:p14="http://schemas.microsoft.com/office/powerpoint/2010/main" val="2732291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</a:t>
            </a:r>
            <a:r>
              <a:rPr lang="en-US" dirty="0">
                <a:ea typeface="ＭＳ Ｐゴシック" panose="020B0600070205080204" pitchFamily="34" charset="-128"/>
              </a:rPr>
              <a:t>Depth-first search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Properties of DFS</a:t>
            </a:r>
          </a:p>
          <a:p>
            <a:r>
              <a:rPr lang="en-US" b="1" dirty="0"/>
              <a:t>Not Complete</a:t>
            </a:r>
          </a:p>
          <a:p>
            <a:pPr lvl="1"/>
            <a:r>
              <a:rPr lang="en-US" dirty="0"/>
              <a:t>Not guaranteed to a finds a solution if one exists</a:t>
            </a:r>
          </a:p>
          <a:p>
            <a:r>
              <a:rPr lang="en-US" b="1" dirty="0"/>
              <a:t>Not Optimal</a:t>
            </a:r>
          </a:p>
          <a:p>
            <a:pPr lvl="1"/>
            <a:r>
              <a:rPr lang="en-US" dirty="0"/>
              <a:t>May not terminate without a depth bond (i.e. cutting off the search below a fixed depth)</a:t>
            </a:r>
          </a:p>
          <a:p>
            <a:r>
              <a:rPr lang="en-US" b="1" dirty="0"/>
              <a:t>Exponential time complexity </a:t>
            </a:r>
          </a:p>
          <a:p>
            <a:pPr lvl="1"/>
            <a:r>
              <a:rPr lang="en-US" dirty="0"/>
              <a:t>O(</a:t>
            </a:r>
            <a:r>
              <a:rPr lang="en-US" dirty="0" err="1"/>
              <a:t>b</a:t>
            </a:r>
            <a:r>
              <a:rPr lang="en-US" baseline="30000" dirty="0" err="1"/>
              <a:t>d</a:t>
            </a:r>
            <a:r>
              <a:rPr lang="en-US" dirty="0"/>
              <a:t>) nodes will be generated, where d is the depth of the solution and b is the branching factor (number of children at each node)</a:t>
            </a:r>
          </a:p>
          <a:p>
            <a:r>
              <a:rPr lang="en-US" b="1" dirty="0"/>
              <a:t>Linear Space Complexity </a:t>
            </a:r>
          </a:p>
          <a:p>
            <a:pPr lvl="1"/>
            <a:r>
              <a:rPr lang="en-US" dirty="0"/>
              <a:t>O(</a:t>
            </a:r>
            <a:r>
              <a:rPr lang="en-US" dirty="0" err="1"/>
              <a:t>bd</a:t>
            </a:r>
            <a:r>
              <a:rPr lang="en-US" dirty="0"/>
              <a:t>) nodes will be stored in the memory </a:t>
            </a:r>
          </a:p>
          <a:p>
            <a:endParaRPr lang="en-US" b="1" dirty="0"/>
          </a:p>
          <a:p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1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4"/>
            <a:r>
              <a:rPr lang="en-US" sz="3200" dirty="0"/>
              <a:t>Uninformed Search Examples</a:t>
            </a:r>
          </a:p>
        </p:txBody>
      </p:sp>
    </p:spTree>
    <p:extLst>
      <p:ext uri="{BB962C8B-B14F-4D97-AF65-F5344CB8AC3E}">
        <p14:creationId xmlns:p14="http://schemas.microsoft.com/office/powerpoint/2010/main" val="280494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4" algn="ctr" rtl="0">
              <a:lnSpc>
                <a:spcPct val="90000"/>
              </a:lnSpc>
              <a:spcBef>
                <a:spcPct val="0"/>
              </a:spcBef>
            </a:pPr>
            <a:br>
              <a:rPr lang="en-US" sz="2800" b="1" dirty="0"/>
            </a:br>
            <a:r>
              <a:rPr lang="en-US" sz="2800" b="1" dirty="0"/>
              <a:t>Week 2: </a:t>
            </a:r>
            <a:r>
              <a:rPr lang="en-US" sz="2800" dirty="0"/>
              <a:t>Uninformed Search Examples</a:t>
            </a:r>
            <a:br>
              <a:rPr lang="en-US" sz="2800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Show how the following search algorithms will search the following search tree, show the solution path in each case and the cost of each solution:</a:t>
            </a:r>
          </a:p>
          <a:p>
            <a:pPr lvl="1"/>
            <a:r>
              <a:rPr lang="en-US" dirty="0"/>
              <a:t>(a) BFS </a:t>
            </a:r>
          </a:p>
          <a:p>
            <a:pPr lvl="1"/>
            <a:r>
              <a:rPr lang="en-US" dirty="0"/>
              <a:t>(b) DFS 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3859818" y="3366930"/>
            <a:ext cx="4335276" cy="2455899"/>
            <a:chOff x="0" y="0"/>
            <a:chExt cx="1701165" cy="1310075"/>
          </a:xfrm>
        </p:grpSpPr>
        <p:sp>
          <p:nvSpPr>
            <p:cNvPr id="48" name="Shape 5446"/>
            <p:cNvSpPr/>
            <p:nvPr/>
          </p:nvSpPr>
          <p:spPr>
            <a:xfrm>
              <a:off x="955040" y="0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134302" y="0"/>
                  </a:move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ubicBezTo>
                    <a:pt x="0" y="59987"/>
                    <a:pt x="60129" y="0"/>
                    <a:pt x="134302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336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Shape 5447"/>
            <p:cNvSpPr/>
            <p:nvPr/>
          </p:nvSpPr>
          <p:spPr>
            <a:xfrm>
              <a:off x="955040" y="0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0" y="133985"/>
                  </a:moveTo>
                  <a:cubicBezTo>
                    <a:pt x="0" y="59987"/>
                    <a:pt x="60129" y="0"/>
                    <a:pt x="134302" y="0"/>
                  </a:cubicBez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lose/>
                </a:path>
              </a:pathLst>
            </a:custGeom>
            <a:ln w="9925" cap="flat">
              <a:round/>
            </a:ln>
          </p:spPr>
          <p:style>
            <a:lnRef idx="1">
              <a:srgbClr val="6E956E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055963" y="90693"/>
              <a:ext cx="128259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 dirty="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Shape 5449"/>
            <p:cNvSpPr/>
            <p:nvPr/>
          </p:nvSpPr>
          <p:spPr>
            <a:xfrm>
              <a:off x="477520" y="506164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134303" y="0"/>
                  </a:move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3" y="267970"/>
                  </a:cubicBezTo>
                  <a:cubicBezTo>
                    <a:pt x="60129" y="267970"/>
                    <a:pt x="0" y="207983"/>
                    <a:pt x="0" y="133985"/>
                  </a:cubicBezTo>
                  <a:cubicBezTo>
                    <a:pt x="0" y="59987"/>
                    <a:pt x="60129" y="0"/>
                    <a:pt x="134303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336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Shape 5450"/>
            <p:cNvSpPr/>
            <p:nvPr/>
          </p:nvSpPr>
          <p:spPr>
            <a:xfrm>
              <a:off x="477520" y="506164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0" y="133985"/>
                  </a:moveTo>
                  <a:cubicBezTo>
                    <a:pt x="0" y="59987"/>
                    <a:pt x="60129" y="0"/>
                    <a:pt x="134302" y="0"/>
                  </a:cubicBez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lose/>
                </a:path>
              </a:pathLst>
            </a:custGeom>
            <a:ln w="9925" cap="flat">
              <a:round/>
            </a:ln>
          </p:spPr>
          <p:style>
            <a:lnRef idx="1">
              <a:srgbClr val="6E956E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77314" y="596661"/>
              <a:ext cx="109758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 dirty="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Shape 5452"/>
            <p:cNvSpPr/>
            <p:nvPr/>
          </p:nvSpPr>
          <p:spPr>
            <a:xfrm>
              <a:off x="955040" y="506164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134302" y="0"/>
                  </a:move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ubicBezTo>
                    <a:pt x="0" y="59987"/>
                    <a:pt x="60129" y="0"/>
                    <a:pt x="134302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336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Shape 5453"/>
            <p:cNvSpPr/>
            <p:nvPr/>
          </p:nvSpPr>
          <p:spPr>
            <a:xfrm>
              <a:off x="955040" y="506164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0" y="133985"/>
                  </a:moveTo>
                  <a:cubicBezTo>
                    <a:pt x="0" y="59987"/>
                    <a:pt x="60129" y="0"/>
                    <a:pt x="134302" y="0"/>
                  </a:cubicBez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lose/>
                </a:path>
              </a:pathLst>
            </a:custGeom>
            <a:ln w="9925" cap="flat">
              <a:round/>
            </a:ln>
          </p:spPr>
          <p:style>
            <a:lnRef idx="1">
              <a:srgbClr val="6E956E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58254" y="596661"/>
              <a:ext cx="101397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 dirty="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Shape 5455"/>
            <p:cNvSpPr/>
            <p:nvPr/>
          </p:nvSpPr>
          <p:spPr>
            <a:xfrm>
              <a:off x="1432560" y="506164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134302" y="0"/>
                  </a:moveTo>
                  <a:cubicBezTo>
                    <a:pt x="208475" y="0"/>
                    <a:pt x="268605" y="59987"/>
                    <a:pt x="268605" y="133985"/>
                  </a:cubicBezTo>
                  <a:cubicBezTo>
                    <a:pt x="268605" y="207983"/>
                    <a:pt x="208475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ubicBezTo>
                    <a:pt x="0" y="59987"/>
                    <a:pt x="60129" y="0"/>
                    <a:pt x="134302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336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Shape 5456"/>
            <p:cNvSpPr/>
            <p:nvPr/>
          </p:nvSpPr>
          <p:spPr>
            <a:xfrm>
              <a:off x="1432560" y="506164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0" y="133985"/>
                  </a:moveTo>
                  <a:cubicBezTo>
                    <a:pt x="0" y="59987"/>
                    <a:pt x="60129" y="0"/>
                    <a:pt x="134302" y="0"/>
                  </a:cubicBez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lose/>
                </a:path>
              </a:pathLst>
            </a:custGeom>
            <a:ln w="9925" cap="flat">
              <a:round/>
            </a:ln>
          </p:spPr>
          <p:style>
            <a:lnRef idx="1">
              <a:srgbClr val="6E956E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535774" y="596661"/>
              <a:ext cx="101397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 dirty="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Shape 5458"/>
            <p:cNvSpPr/>
            <p:nvPr/>
          </p:nvSpPr>
          <p:spPr>
            <a:xfrm>
              <a:off x="0" y="1042105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134302" y="0"/>
                  </a:moveTo>
                  <a:cubicBezTo>
                    <a:pt x="208475" y="0"/>
                    <a:pt x="268605" y="59987"/>
                    <a:pt x="268605" y="133985"/>
                  </a:cubicBezTo>
                  <a:cubicBezTo>
                    <a:pt x="268605" y="207983"/>
                    <a:pt x="208475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ubicBezTo>
                    <a:pt x="0" y="59987"/>
                    <a:pt x="60129" y="0"/>
                    <a:pt x="134302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336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Shape 5459"/>
            <p:cNvSpPr/>
            <p:nvPr/>
          </p:nvSpPr>
          <p:spPr>
            <a:xfrm>
              <a:off x="0" y="1042105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0" y="133985"/>
                  </a:moveTo>
                  <a:cubicBezTo>
                    <a:pt x="0" y="59987"/>
                    <a:pt x="60129" y="0"/>
                    <a:pt x="134303" y="0"/>
                  </a:cubicBez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3" y="267970"/>
                  </a:cubicBezTo>
                  <a:cubicBezTo>
                    <a:pt x="60129" y="267970"/>
                    <a:pt x="0" y="207983"/>
                    <a:pt x="0" y="133985"/>
                  </a:cubicBezTo>
                  <a:close/>
                </a:path>
              </a:pathLst>
            </a:custGeom>
            <a:ln w="9925" cap="flat">
              <a:round/>
            </a:ln>
          </p:spPr>
          <p:style>
            <a:lnRef idx="1">
              <a:srgbClr val="6E956E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9794" y="1130061"/>
              <a:ext cx="109758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 dirty="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Shape 5461"/>
            <p:cNvSpPr/>
            <p:nvPr/>
          </p:nvSpPr>
          <p:spPr>
            <a:xfrm>
              <a:off x="477520" y="1042105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134303" y="0"/>
                  </a:move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3" y="267970"/>
                  </a:cubicBezTo>
                  <a:cubicBezTo>
                    <a:pt x="60129" y="267970"/>
                    <a:pt x="0" y="207983"/>
                    <a:pt x="0" y="133985"/>
                  </a:cubicBezTo>
                  <a:cubicBezTo>
                    <a:pt x="0" y="59987"/>
                    <a:pt x="60129" y="0"/>
                    <a:pt x="134303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336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Shape 5462"/>
            <p:cNvSpPr/>
            <p:nvPr/>
          </p:nvSpPr>
          <p:spPr>
            <a:xfrm>
              <a:off x="477520" y="1042105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0" y="133985"/>
                  </a:moveTo>
                  <a:cubicBezTo>
                    <a:pt x="0" y="59987"/>
                    <a:pt x="60129" y="0"/>
                    <a:pt x="134302" y="0"/>
                  </a:cubicBez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lose/>
                </a:path>
              </a:pathLst>
            </a:custGeom>
            <a:ln w="9925" cap="flat">
              <a:round/>
            </a:ln>
          </p:spPr>
          <p:style>
            <a:lnRef idx="1">
              <a:srgbClr val="6E956E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84153" y="1130061"/>
              <a:ext cx="122800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 dirty="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Shape 5464"/>
            <p:cNvSpPr/>
            <p:nvPr/>
          </p:nvSpPr>
          <p:spPr>
            <a:xfrm>
              <a:off x="955040" y="1042105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134302" y="0"/>
                  </a:move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ubicBezTo>
                    <a:pt x="0" y="59987"/>
                    <a:pt x="60129" y="0"/>
                    <a:pt x="134302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336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Shape 5465"/>
            <p:cNvSpPr/>
            <p:nvPr/>
          </p:nvSpPr>
          <p:spPr>
            <a:xfrm>
              <a:off x="955040" y="1042105"/>
              <a:ext cx="268605" cy="267970"/>
            </a:xfrm>
            <a:custGeom>
              <a:avLst/>
              <a:gdLst/>
              <a:ahLst/>
              <a:cxnLst/>
              <a:rect l="0" t="0" r="0" b="0"/>
              <a:pathLst>
                <a:path w="268605" h="267970">
                  <a:moveTo>
                    <a:pt x="0" y="133985"/>
                  </a:moveTo>
                  <a:cubicBezTo>
                    <a:pt x="0" y="59987"/>
                    <a:pt x="60129" y="0"/>
                    <a:pt x="134302" y="0"/>
                  </a:cubicBezTo>
                  <a:cubicBezTo>
                    <a:pt x="208476" y="0"/>
                    <a:pt x="268605" y="59987"/>
                    <a:pt x="268605" y="133985"/>
                  </a:cubicBezTo>
                  <a:cubicBezTo>
                    <a:pt x="268605" y="207983"/>
                    <a:pt x="208476" y="267970"/>
                    <a:pt x="134302" y="267970"/>
                  </a:cubicBezTo>
                  <a:cubicBezTo>
                    <a:pt x="60129" y="267970"/>
                    <a:pt x="0" y="207983"/>
                    <a:pt x="0" y="133985"/>
                  </a:cubicBezTo>
                  <a:close/>
                </a:path>
              </a:pathLst>
            </a:custGeom>
            <a:ln w="9925" cap="flat">
              <a:round/>
            </a:ln>
          </p:spPr>
          <p:style>
            <a:lnRef idx="1">
              <a:srgbClr val="6E956E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54834" y="1130061"/>
              <a:ext cx="109758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 dirty="0">
                  <a:solidFill>
                    <a:srgbClr val="FFFF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Shape 5467"/>
            <p:cNvSpPr/>
            <p:nvPr/>
          </p:nvSpPr>
          <p:spPr>
            <a:xfrm>
              <a:off x="706953" y="225559"/>
              <a:ext cx="290944" cy="319685"/>
            </a:xfrm>
            <a:custGeom>
              <a:avLst/>
              <a:gdLst/>
              <a:ahLst/>
              <a:cxnLst/>
              <a:rect l="0" t="0" r="0" b="0"/>
              <a:pathLst>
                <a:path w="290944" h="319685">
                  <a:moveTo>
                    <a:pt x="283572" y="0"/>
                  </a:moveTo>
                  <a:lnTo>
                    <a:pt x="290944" y="6663"/>
                  </a:lnTo>
                  <a:lnTo>
                    <a:pt x="23724" y="300950"/>
                  </a:lnTo>
                  <a:lnTo>
                    <a:pt x="38470" y="314277"/>
                  </a:lnTo>
                  <a:lnTo>
                    <a:pt x="0" y="319685"/>
                  </a:lnTo>
                  <a:lnTo>
                    <a:pt x="1605" y="280961"/>
                  </a:lnTo>
                  <a:lnTo>
                    <a:pt x="16351" y="294287"/>
                  </a:lnTo>
                  <a:lnTo>
                    <a:pt x="283572" y="0"/>
                  </a:ln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4C9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Shape 5468"/>
            <p:cNvSpPr/>
            <p:nvPr/>
          </p:nvSpPr>
          <p:spPr>
            <a:xfrm>
              <a:off x="1064471" y="267970"/>
              <a:ext cx="49742" cy="238195"/>
            </a:xfrm>
            <a:custGeom>
              <a:avLst/>
              <a:gdLst/>
              <a:ahLst/>
              <a:cxnLst/>
              <a:rect l="0" t="0" r="0" b="0"/>
              <a:pathLst>
                <a:path w="49742" h="238195">
                  <a:moveTo>
                    <a:pt x="19897" y="0"/>
                  </a:moveTo>
                  <a:lnTo>
                    <a:pt x="29845" y="0"/>
                  </a:lnTo>
                  <a:lnTo>
                    <a:pt x="29845" y="208421"/>
                  </a:lnTo>
                  <a:lnTo>
                    <a:pt x="49742" y="208421"/>
                  </a:lnTo>
                  <a:lnTo>
                    <a:pt x="24872" y="238195"/>
                  </a:lnTo>
                  <a:lnTo>
                    <a:pt x="0" y="208421"/>
                  </a:lnTo>
                  <a:lnTo>
                    <a:pt x="19897" y="208421"/>
                  </a:lnTo>
                  <a:lnTo>
                    <a:pt x="19897" y="0"/>
                  </a:ln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4C9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Shape 5469"/>
            <p:cNvSpPr/>
            <p:nvPr/>
          </p:nvSpPr>
          <p:spPr>
            <a:xfrm>
              <a:off x="1180786" y="225559"/>
              <a:ext cx="290946" cy="319685"/>
            </a:xfrm>
            <a:custGeom>
              <a:avLst/>
              <a:gdLst/>
              <a:ahLst/>
              <a:cxnLst/>
              <a:rect l="0" t="0" r="0" b="0"/>
              <a:pathLst>
                <a:path w="290946" h="319685">
                  <a:moveTo>
                    <a:pt x="7374" y="0"/>
                  </a:moveTo>
                  <a:lnTo>
                    <a:pt x="274595" y="294287"/>
                  </a:lnTo>
                  <a:lnTo>
                    <a:pt x="289340" y="280961"/>
                  </a:lnTo>
                  <a:lnTo>
                    <a:pt x="290946" y="319685"/>
                  </a:lnTo>
                  <a:lnTo>
                    <a:pt x="252476" y="314277"/>
                  </a:lnTo>
                  <a:lnTo>
                    <a:pt x="267222" y="300951"/>
                  </a:lnTo>
                  <a:lnTo>
                    <a:pt x="0" y="6663"/>
                  </a:lnTo>
                  <a:lnTo>
                    <a:pt x="7374" y="0"/>
                  </a:ln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4C9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Shape 5470"/>
            <p:cNvSpPr/>
            <p:nvPr/>
          </p:nvSpPr>
          <p:spPr>
            <a:xfrm>
              <a:off x="229310" y="731892"/>
              <a:ext cx="291214" cy="349292"/>
            </a:xfrm>
            <a:custGeom>
              <a:avLst/>
              <a:gdLst/>
              <a:ahLst/>
              <a:cxnLst/>
              <a:rect l="0" t="0" r="0" b="0"/>
              <a:pathLst>
                <a:path w="291214" h="349292">
                  <a:moveTo>
                    <a:pt x="283550" y="0"/>
                  </a:moveTo>
                  <a:lnTo>
                    <a:pt x="291214" y="6330"/>
                  </a:lnTo>
                  <a:lnTo>
                    <a:pt x="22988" y="329524"/>
                  </a:lnTo>
                  <a:lnTo>
                    <a:pt x="38313" y="342183"/>
                  </a:lnTo>
                  <a:lnTo>
                    <a:pt x="123" y="349292"/>
                  </a:lnTo>
                  <a:lnTo>
                    <a:pt x="0" y="310535"/>
                  </a:lnTo>
                  <a:lnTo>
                    <a:pt x="15326" y="323195"/>
                  </a:lnTo>
                  <a:lnTo>
                    <a:pt x="283550" y="0"/>
                  </a:ln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4C9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Shape 5471"/>
            <p:cNvSpPr/>
            <p:nvPr/>
          </p:nvSpPr>
          <p:spPr>
            <a:xfrm>
              <a:off x="587021" y="774744"/>
              <a:ext cx="49742" cy="267981"/>
            </a:xfrm>
            <a:custGeom>
              <a:avLst/>
              <a:gdLst/>
              <a:ahLst/>
              <a:cxnLst/>
              <a:rect l="0" t="0" r="0" b="0"/>
              <a:pathLst>
                <a:path w="49742" h="267981">
                  <a:moveTo>
                    <a:pt x="20450" y="0"/>
                  </a:moveTo>
                  <a:lnTo>
                    <a:pt x="30398" y="23"/>
                  </a:lnTo>
                  <a:lnTo>
                    <a:pt x="29845" y="238218"/>
                  </a:lnTo>
                  <a:lnTo>
                    <a:pt x="49742" y="238265"/>
                  </a:lnTo>
                  <a:lnTo>
                    <a:pt x="24802" y="267981"/>
                  </a:lnTo>
                  <a:lnTo>
                    <a:pt x="0" y="238149"/>
                  </a:lnTo>
                  <a:lnTo>
                    <a:pt x="19897" y="238195"/>
                  </a:lnTo>
                  <a:lnTo>
                    <a:pt x="20450" y="0"/>
                  </a:ln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4C9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Shape 5472"/>
            <p:cNvSpPr/>
            <p:nvPr/>
          </p:nvSpPr>
          <p:spPr>
            <a:xfrm>
              <a:off x="703121" y="731892"/>
              <a:ext cx="291214" cy="349292"/>
            </a:xfrm>
            <a:custGeom>
              <a:avLst/>
              <a:gdLst/>
              <a:ahLst/>
              <a:cxnLst/>
              <a:rect l="0" t="0" r="0" b="0"/>
              <a:pathLst>
                <a:path w="291214" h="349292">
                  <a:moveTo>
                    <a:pt x="7663" y="0"/>
                  </a:moveTo>
                  <a:lnTo>
                    <a:pt x="275888" y="323195"/>
                  </a:lnTo>
                  <a:lnTo>
                    <a:pt x="291214" y="310535"/>
                  </a:lnTo>
                  <a:lnTo>
                    <a:pt x="291090" y="349292"/>
                  </a:lnTo>
                  <a:lnTo>
                    <a:pt x="252900" y="342183"/>
                  </a:lnTo>
                  <a:lnTo>
                    <a:pt x="268226" y="329524"/>
                  </a:lnTo>
                  <a:lnTo>
                    <a:pt x="0" y="6330"/>
                  </a:lnTo>
                  <a:lnTo>
                    <a:pt x="7663" y="0"/>
                  </a:ln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4C9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Shape 5473"/>
            <p:cNvSpPr/>
            <p:nvPr/>
          </p:nvSpPr>
          <p:spPr>
            <a:xfrm>
              <a:off x="1064541" y="774744"/>
              <a:ext cx="49741" cy="267981"/>
            </a:xfrm>
            <a:custGeom>
              <a:avLst/>
              <a:gdLst/>
              <a:ahLst/>
              <a:cxnLst/>
              <a:rect l="0" t="0" r="0" b="0"/>
              <a:pathLst>
                <a:path w="49741" h="267981">
                  <a:moveTo>
                    <a:pt x="20450" y="0"/>
                  </a:moveTo>
                  <a:lnTo>
                    <a:pt x="30397" y="23"/>
                  </a:lnTo>
                  <a:lnTo>
                    <a:pt x="29845" y="238218"/>
                  </a:lnTo>
                  <a:lnTo>
                    <a:pt x="49741" y="238265"/>
                  </a:lnTo>
                  <a:lnTo>
                    <a:pt x="24802" y="267981"/>
                  </a:lnTo>
                  <a:lnTo>
                    <a:pt x="0" y="238149"/>
                  </a:lnTo>
                  <a:lnTo>
                    <a:pt x="19896" y="238195"/>
                  </a:lnTo>
                  <a:lnTo>
                    <a:pt x="20450" y="0"/>
                  </a:ln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4C9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Shape 5474"/>
            <p:cNvSpPr/>
            <p:nvPr/>
          </p:nvSpPr>
          <p:spPr>
            <a:xfrm>
              <a:off x="1184350" y="731892"/>
              <a:ext cx="291214" cy="349292"/>
            </a:xfrm>
            <a:custGeom>
              <a:avLst/>
              <a:gdLst/>
              <a:ahLst/>
              <a:cxnLst/>
              <a:rect l="0" t="0" r="0" b="0"/>
              <a:pathLst>
                <a:path w="291214" h="349292">
                  <a:moveTo>
                    <a:pt x="283551" y="0"/>
                  </a:moveTo>
                  <a:lnTo>
                    <a:pt x="291214" y="6330"/>
                  </a:lnTo>
                  <a:lnTo>
                    <a:pt x="22988" y="329524"/>
                  </a:lnTo>
                  <a:lnTo>
                    <a:pt x="38313" y="342183"/>
                  </a:lnTo>
                  <a:lnTo>
                    <a:pt x="123" y="349292"/>
                  </a:lnTo>
                  <a:lnTo>
                    <a:pt x="0" y="310535"/>
                  </a:lnTo>
                  <a:lnTo>
                    <a:pt x="15326" y="323195"/>
                  </a:lnTo>
                  <a:lnTo>
                    <a:pt x="283551" y="0"/>
                  </a:ln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94C9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45876" y="297957"/>
              <a:ext cx="76010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>
                  <a:solidFill>
                    <a:srgbClr val="00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805563" y="297957"/>
              <a:ext cx="792414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 dirty="0">
                  <a:solidFill>
                    <a:srgbClr val="00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           5     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402644" y="297957"/>
              <a:ext cx="76010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>
                  <a:solidFill>
                    <a:srgbClr val="00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65247" y="831357"/>
              <a:ext cx="76010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>
                  <a:solidFill>
                    <a:srgbClr val="00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91264" y="831334"/>
              <a:ext cx="1150506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>
                  <a:solidFill>
                    <a:srgbClr val="00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         7           9               4        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429507" y="831357"/>
              <a:ext cx="76010" cy="16795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900">
                  <a:solidFill>
                    <a:srgbClr val="003366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6710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Informed Search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Unlike the uninformed search, the informed search algorithm:</a:t>
            </a:r>
          </a:p>
          <a:p>
            <a:pPr lvl="1"/>
            <a:r>
              <a:rPr lang="en-US" sz="3200" dirty="0"/>
              <a:t>Have all the necessary information needed to make a decision on which path to take</a:t>
            </a:r>
          </a:p>
          <a:p>
            <a:pPr lvl="1"/>
            <a:r>
              <a:rPr lang="en-US" sz="3200" dirty="0"/>
              <a:t>Uses additional knowledge about the problem domain to select the best path</a:t>
            </a:r>
          </a:p>
          <a:p>
            <a:pPr lvl="1"/>
            <a:r>
              <a:rPr lang="en-US" sz="3200" b="1" dirty="0"/>
              <a:t>Heuristics</a:t>
            </a:r>
            <a:r>
              <a:rPr lang="en-US" sz="3200" dirty="0"/>
              <a:t> are used, which are informed guesses </a:t>
            </a:r>
          </a:p>
          <a:p>
            <a:pPr lvl="2"/>
            <a:r>
              <a:rPr lang="en-US" sz="3200" dirty="0"/>
              <a:t>A heuristics is a function that estimate the cost of reaching a goal from a given state (node)</a:t>
            </a:r>
          </a:p>
        </p:txBody>
      </p:sp>
    </p:spTree>
    <p:extLst>
      <p:ext uri="{BB962C8B-B14F-4D97-AF65-F5344CB8AC3E}">
        <p14:creationId xmlns:p14="http://schemas.microsoft.com/office/powerpoint/2010/main" val="111284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Week 2: Best First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Best First Search </a:t>
            </a:r>
          </a:p>
          <a:p>
            <a:pPr lvl="1"/>
            <a:r>
              <a:rPr lang="en-US" dirty="0"/>
              <a:t>General form of Informed Search Algorithms</a:t>
            </a:r>
          </a:p>
          <a:p>
            <a:pPr lvl="1"/>
            <a:r>
              <a:rPr lang="en-US" dirty="0"/>
              <a:t>Node is selected for expansion based on evaluation function </a:t>
            </a:r>
            <a:r>
              <a:rPr lang="en-US" b="1" i="1" dirty="0"/>
              <a:t>f</a:t>
            </a:r>
            <a:r>
              <a:rPr lang="en-US" b="1" dirty="0"/>
              <a:t>(</a:t>
            </a:r>
            <a:r>
              <a:rPr lang="en-US" b="1" i="1" dirty="0"/>
              <a:t>n</a:t>
            </a:r>
            <a:r>
              <a:rPr lang="en-US" b="1" dirty="0"/>
              <a:t>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Sort nodes in the OPEN list by increasing values of an evaluation function </a:t>
            </a:r>
            <a:r>
              <a:rPr lang="en-US" b="1" i="1" dirty="0"/>
              <a:t>f</a:t>
            </a:r>
            <a:r>
              <a:rPr lang="en-US" b="1" dirty="0"/>
              <a:t>(</a:t>
            </a:r>
            <a:r>
              <a:rPr lang="en-US" b="1" i="1" dirty="0"/>
              <a:t>n</a:t>
            </a:r>
            <a:r>
              <a:rPr lang="en-US" b="1" dirty="0"/>
              <a:t>)</a:t>
            </a:r>
            <a:r>
              <a:rPr lang="en-US" dirty="0"/>
              <a:t>, that incorporates domain-specific information</a:t>
            </a:r>
          </a:p>
          <a:p>
            <a:pPr lvl="1"/>
            <a:r>
              <a:rPr lang="en-US" dirty="0"/>
              <a:t>Expand the lowest cost node first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04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2: Best First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Often for best search algorithm, </a:t>
            </a:r>
            <a:r>
              <a:rPr lang="en-US" b="1" i="1" dirty="0"/>
              <a:t>f(n)</a:t>
            </a:r>
            <a:r>
              <a:rPr lang="en-US" b="1" dirty="0"/>
              <a:t> </a:t>
            </a:r>
            <a:r>
              <a:rPr lang="en-US" dirty="0"/>
              <a:t>is defined in terms of a heuristic function </a:t>
            </a:r>
            <a:r>
              <a:rPr lang="en-US" b="1" i="1" dirty="0"/>
              <a:t>h(n)</a:t>
            </a:r>
          </a:p>
          <a:p>
            <a:r>
              <a:rPr lang="en-US" b="1" i="1" dirty="0"/>
              <a:t>h(n) </a:t>
            </a:r>
            <a:r>
              <a:rPr lang="en-US" dirty="0"/>
              <a:t>= </a:t>
            </a:r>
            <a:r>
              <a:rPr lang="en-US" i="1" dirty="0"/>
              <a:t>estimated</a:t>
            </a:r>
            <a:r>
              <a:rPr lang="en-US" dirty="0"/>
              <a:t> cost of the cheapest path from the state at node n to a goal state (for goal state </a:t>
            </a:r>
            <a:r>
              <a:rPr lang="en-US" b="1" i="1" dirty="0"/>
              <a:t>h(n) </a:t>
            </a:r>
            <a:r>
              <a:rPr lang="en-US" dirty="0"/>
              <a:t>= 0)</a:t>
            </a:r>
          </a:p>
          <a:p>
            <a:r>
              <a:rPr lang="en-US" b="1" i="1" dirty="0"/>
              <a:t>Heuristics</a:t>
            </a:r>
            <a:r>
              <a:rPr lang="en-US" dirty="0"/>
              <a:t> are the common way in which additional knowledge is passed to the search algorithm</a:t>
            </a:r>
          </a:p>
          <a:p>
            <a:r>
              <a:rPr lang="en-US" dirty="0"/>
              <a:t>Define a heuristic function, </a:t>
            </a:r>
            <a:r>
              <a:rPr lang="en-US" b="1" i="1" dirty="0"/>
              <a:t>h</a:t>
            </a:r>
            <a:r>
              <a:rPr lang="en-US" b="1" dirty="0"/>
              <a:t>(</a:t>
            </a:r>
            <a:r>
              <a:rPr lang="en-US" b="1" i="1" dirty="0"/>
              <a:t>n</a:t>
            </a:r>
            <a:r>
              <a:rPr lang="en-US" b="1" dirty="0"/>
              <a:t>)</a:t>
            </a:r>
            <a:r>
              <a:rPr lang="en-US" dirty="0"/>
              <a:t> </a:t>
            </a:r>
          </a:p>
          <a:p>
            <a:r>
              <a:rPr lang="en-US" dirty="0"/>
              <a:t>If </a:t>
            </a:r>
            <a:r>
              <a:rPr lang="en-US" b="1" i="1" dirty="0"/>
              <a:t>h</a:t>
            </a:r>
            <a:r>
              <a:rPr lang="en-US" b="1" dirty="0"/>
              <a:t>(</a:t>
            </a:r>
            <a:r>
              <a:rPr lang="en-US" b="1" i="1" dirty="0"/>
              <a:t>n1</a:t>
            </a:r>
            <a:r>
              <a:rPr lang="en-US" b="1" dirty="0"/>
              <a:t>)</a:t>
            </a:r>
            <a:r>
              <a:rPr lang="en-US" dirty="0"/>
              <a:t> &lt;</a:t>
            </a:r>
            <a:r>
              <a:rPr lang="en-US" b="1" i="1" dirty="0"/>
              <a:t> h</a:t>
            </a:r>
            <a:r>
              <a:rPr lang="en-US" b="1" dirty="0"/>
              <a:t>(</a:t>
            </a:r>
            <a:r>
              <a:rPr lang="en-US" b="1" i="1" dirty="0"/>
              <a:t>n2</a:t>
            </a:r>
            <a:r>
              <a:rPr lang="en-US" b="1" dirty="0"/>
              <a:t>)</a:t>
            </a:r>
            <a:r>
              <a:rPr lang="en-US" dirty="0"/>
              <a:t>, we guess it is cheaper to reach the goal from n1, than n2.</a:t>
            </a:r>
          </a:p>
          <a:p>
            <a:r>
              <a:rPr lang="en-US" dirty="0"/>
              <a:t>We require </a:t>
            </a:r>
            <a:r>
              <a:rPr lang="en-US" b="1" i="1" dirty="0"/>
              <a:t>h</a:t>
            </a:r>
            <a:r>
              <a:rPr lang="en-US" b="1" dirty="0"/>
              <a:t>(</a:t>
            </a:r>
            <a:r>
              <a:rPr lang="en-US" b="1" i="1" dirty="0"/>
              <a:t>n</a:t>
            </a:r>
            <a:r>
              <a:rPr lang="en-US" b="1" dirty="0"/>
              <a:t>) = 0</a:t>
            </a:r>
            <a:r>
              <a:rPr lang="en-US" dirty="0"/>
              <a:t>, for a goal state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561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2: Greedy Best-First Search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2800" dirty="0"/>
              <a:t>Greedy Best-First Search </a:t>
            </a:r>
          </a:p>
          <a:p>
            <a:pPr lvl="1"/>
            <a:r>
              <a:rPr lang="en-US" sz="12800" dirty="0"/>
              <a:t>Use an evaluation function, </a:t>
            </a:r>
            <a:r>
              <a:rPr lang="en-US" sz="12800" b="1" i="1" dirty="0"/>
              <a:t>f</a:t>
            </a:r>
            <a:r>
              <a:rPr lang="en-US" sz="12800" b="1" dirty="0"/>
              <a:t>(</a:t>
            </a:r>
            <a:r>
              <a:rPr lang="en-US" sz="12800" b="1" i="1" dirty="0"/>
              <a:t>n</a:t>
            </a:r>
            <a:r>
              <a:rPr lang="en-US" sz="12800" b="1" dirty="0"/>
              <a:t>) </a:t>
            </a:r>
            <a:r>
              <a:rPr lang="en-US" sz="12800" b="1" i="1" dirty="0"/>
              <a:t>= h</a:t>
            </a:r>
            <a:r>
              <a:rPr lang="en-US" sz="12800" b="1" dirty="0"/>
              <a:t>(</a:t>
            </a:r>
            <a:r>
              <a:rPr lang="en-US" sz="12800" b="1" i="1" dirty="0"/>
              <a:t>n</a:t>
            </a:r>
            <a:r>
              <a:rPr lang="en-US" sz="12800" b="1" dirty="0"/>
              <a:t>)</a:t>
            </a:r>
            <a:r>
              <a:rPr lang="en-US" sz="12800" i="1" dirty="0"/>
              <a:t>, </a:t>
            </a:r>
            <a:r>
              <a:rPr lang="en-US" sz="12800" dirty="0"/>
              <a:t>to rank nodes in the OPEN by increasing values of </a:t>
            </a:r>
            <a:r>
              <a:rPr lang="en-US" sz="12800" b="1" i="1" dirty="0"/>
              <a:t>f</a:t>
            </a:r>
          </a:p>
          <a:p>
            <a:pPr lvl="1"/>
            <a:r>
              <a:rPr lang="en-US" sz="12800" dirty="0"/>
              <a:t> Selects the node to expand that is believed to be closest (i.e., smallest </a:t>
            </a:r>
            <a:r>
              <a:rPr lang="en-US" sz="12800" b="1" i="1" dirty="0"/>
              <a:t>f </a:t>
            </a:r>
            <a:r>
              <a:rPr lang="en-US" sz="12800" dirty="0"/>
              <a:t>value) to a goal node </a:t>
            </a:r>
          </a:p>
          <a:p>
            <a:pPr lvl="1"/>
            <a:r>
              <a:rPr lang="en-US" sz="12800" dirty="0"/>
              <a:t>Greedy best first search greedily tries to achieve a low cost solution</a:t>
            </a:r>
          </a:p>
          <a:p>
            <a:pPr lvl="1"/>
            <a:r>
              <a:rPr lang="en-US" sz="12800" dirty="0"/>
              <a:t>Greedy best search ignores the cost of getting to n, so it may lead astray exploring nodes that cost a lot but seem to be close to the goal.</a:t>
            </a:r>
          </a:p>
          <a:p>
            <a:pPr marL="609585" lvl="1" indent="0">
              <a:buNone/>
            </a:pP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85520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2: Greedy Best-First Search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Properties of GBFS</a:t>
            </a:r>
          </a:p>
          <a:p>
            <a:r>
              <a:rPr lang="en-US" dirty="0"/>
              <a:t>Complete: NO</a:t>
            </a:r>
          </a:p>
          <a:p>
            <a:r>
              <a:rPr lang="en-US" dirty="0"/>
              <a:t>Optimal: NO</a:t>
            </a:r>
          </a:p>
          <a:p>
            <a:r>
              <a:rPr lang="en-US" dirty="0"/>
              <a:t>Time and space complexity: O(</a:t>
            </a:r>
            <a:r>
              <a:rPr lang="en-US" dirty="0" err="1"/>
              <a:t>b</a:t>
            </a:r>
            <a:r>
              <a:rPr lang="en-US" baseline="30000" dirty="0" err="1"/>
              <a:t>d</a:t>
            </a:r>
            <a:r>
              <a:rPr lang="en-US" dirty="0"/>
              <a:t>) (i.e., exponential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1323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2: A*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A* Search Algorithm </a:t>
            </a:r>
          </a:p>
          <a:p>
            <a:pPr lvl="1"/>
            <a:r>
              <a:rPr lang="en-US" dirty="0"/>
              <a:t>Best form of Best Search Algorithm</a:t>
            </a:r>
          </a:p>
          <a:p>
            <a:pPr lvl="1"/>
            <a:r>
              <a:rPr lang="en-US" dirty="0"/>
              <a:t>Takes into account the cost of getting to a node as well as the estimated cost of getting to the goal from a given node</a:t>
            </a:r>
          </a:p>
          <a:p>
            <a:pPr lvl="1"/>
            <a:r>
              <a:rPr lang="en-US" dirty="0"/>
              <a:t>Define an evaluation function </a:t>
            </a:r>
            <a:r>
              <a:rPr lang="en-US" b="1" i="1" dirty="0"/>
              <a:t>f(n)</a:t>
            </a:r>
          </a:p>
          <a:p>
            <a:pPr lvl="2"/>
            <a:r>
              <a:rPr lang="en-US" b="1" i="1" dirty="0"/>
              <a:t>f(n) = g(n) + h(n)</a:t>
            </a:r>
          </a:p>
          <a:p>
            <a:pPr lvl="2"/>
            <a:r>
              <a:rPr lang="en-US" b="1" i="1" dirty="0"/>
              <a:t>g(n) = actual cost to get to node n from start </a:t>
            </a:r>
          </a:p>
          <a:p>
            <a:pPr lvl="2"/>
            <a:r>
              <a:rPr lang="en-US" b="1" i="1" dirty="0"/>
              <a:t>h(n) = estimated cost to get to a goal from node n</a:t>
            </a:r>
          </a:p>
          <a:p>
            <a:pPr lvl="1"/>
            <a:r>
              <a:rPr lang="en-US" i="1" dirty="0"/>
              <a:t>Always expand the node with the lowest f-value on OPEN</a:t>
            </a:r>
          </a:p>
          <a:p>
            <a:pPr lvl="1"/>
            <a:r>
              <a:rPr lang="en-US" i="1" dirty="0"/>
              <a:t>The f-value, </a:t>
            </a:r>
            <a:r>
              <a:rPr lang="en-US" b="1" i="1" dirty="0"/>
              <a:t>f(n) </a:t>
            </a:r>
            <a:r>
              <a:rPr lang="en-US" i="1" dirty="0"/>
              <a:t>is an estimation of the cost of getting to the goal via the node (path) n. </a:t>
            </a:r>
          </a:p>
          <a:p>
            <a:endParaRPr lang="en-US" b="1" i="1" dirty="0"/>
          </a:p>
          <a:p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020958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2: A*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Properties of A* Search</a:t>
            </a:r>
          </a:p>
          <a:p>
            <a:r>
              <a:rPr lang="en-US" dirty="0"/>
              <a:t>Complete: Yes</a:t>
            </a:r>
          </a:p>
          <a:p>
            <a:r>
              <a:rPr lang="en-US" dirty="0"/>
              <a:t>Optimal: Yes</a:t>
            </a:r>
          </a:p>
          <a:p>
            <a:r>
              <a:rPr lang="en-US" dirty="0"/>
              <a:t>Time and space complexity: O(</a:t>
            </a:r>
            <a:r>
              <a:rPr lang="en-US" dirty="0" err="1"/>
              <a:t>b</a:t>
            </a:r>
            <a:r>
              <a:rPr lang="en-US" baseline="30000" dirty="0" err="1"/>
              <a:t>d</a:t>
            </a:r>
            <a:r>
              <a:rPr lang="en-US" dirty="0"/>
              <a:t>) (i.e., exponential</a:t>
            </a:r>
            <a:r>
              <a:rPr lang="en-US" b="1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807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2: A*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Admissible heuristics</a:t>
            </a:r>
          </a:p>
          <a:p>
            <a:pPr lvl="1"/>
            <a:r>
              <a:rPr lang="en-US" dirty="0"/>
              <a:t>A heuristics h(n) is admissible if for every node n,</a:t>
            </a:r>
          </a:p>
          <a:p>
            <a:pPr lvl="1"/>
            <a:r>
              <a:rPr lang="en-US" dirty="0"/>
              <a:t>h(n) &lt;= h*(n)</a:t>
            </a:r>
          </a:p>
          <a:p>
            <a:pPr lvl="2"/>
            <a:r>
              <a:rPr lang="en-US" dirty="0"/>
              <a:t> where h*(n) is the true cost to reach the goal state from node n. </a:t>
            </a:r>
          </a:p>
          <a:p>
            <a:pPr lvl="1"/>
            <a:r>
              <a:rPr lang="en-US" dirty="0"/>
              <a:t>An admissible heuristics never overestimate the cost to reach the goal</a:t>
            </a:r>
          </a:p>
        </p:txBody>
      </p:sp>
    </p:spTree>
    <p:extLst>
      <p:ext uri="{BB962C8B-B14F-4D97-AF65-F5344CB8AC3E}">
        <p14:creationId xmlns:p14="http://schemas.microsoft.com/office/powerpoint/2010/main" val="9087910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lvl="4"/>
            <a:r>
              <a:rPr lang="en-US" sz="4267" dirty="0"/>
              <a:t>Informed Search Examples</a:t>
            </a:r>
          </a:p>
        </p:txBody>
      </p:sp>
    </p:spTree>
    <p:extLst>
      <p:ext uri="{BB962C8B-B14F-4D97-AF65-F5344CB8AC3E}">
        <p14:creationId xmlns:p14="http://schemas.microsoft.com/office/powerpoint/2010/main" val="785718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Week2: 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US" dirty="0"/>
              <a:t>Explain the differences and similarities between depth-first search and breadth-first search. Give examples of the kinds of problems where each would be appropriate.</a:t>
            </a:r>
          </a:p>
          <a:p>
            <a:pPr lvl="0"/>
            <a:r>
              <a:rPr lang="en-US" dirty="0"/>
              <a:t>Explain what is meant by the following terms in relation to search methods:</a:t>
            </a:r>
          </a:p>
          <a:p>
            <a:pPr lvl="1"/>
            <a:r>
              <a:rPr lang="en-US" dirty="0"/>
              <a:t>Complexity</a:t>
            </a:r>
          </a:p>
          <a:p>
            <a:pPr lvl="1"/>
            <a:r>
              <a:rPr lang="en-US" dirty="0"/>
              <a:t>Completeness </a:t>
            </a:r>
          </a:p>
          <a:p>
            <a:pPr lvl="1"/>
            <a:r>
              <a:rPr lang="en-US" dirty="0"/>
              <a:t>Optimality</a:t>
            </a:r>
            <a:br>
              <a:rPr lang="en-US" dirty="0"/>
            </a:br>
            <a:r>
              <a:rPr lang="en-US" dirty="0"/>
              <a:t> </a:t>
            </a:r>
          </a:p>
          <a:p>
            <a:pPr lvl="0"/>
            <a:r>
              <a:rPr lang="en-US" dirty="0"/>
              <a:t>What is the complexity (in space and in time) of the following search methods:</a:t>
            </a:r>
          </a:p>
          <a:p>
            <a:pPr lvl="1"/>
            <a:r>
              <a:rPr lang="en-US" dirty="0"/>
              <a:t>depth-first search</a:t>
            </a:r>
          </a:p>
          <a:p>
            <a:pPr lvl="1"/>
            <a:r>
              <a:rPr lang="en-US" dirty="0"/>
              <a:t>breadth-first search</a:t>
            </a:r>
          </a:p>
          <a:p>
            <a:pPr lvl="1"/>
            <a:r>
              <a:rPr lang="en-US" dirty="0"/>
              <a:t>best-first search</a:t>
            </a:r>
          </a:p>
          <a:p>
            <a:pPr lvl="1"/>
            <a:r>
              <a:rPr lang="en-US" dirty="0"/>
              <a:t>greedy 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415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13714</TotalTime>
  <Words>3104</Words>
  <Application>Microsoft Office PowerPoint</Application>
  <PresentationFormat>Widescreen</PresentationFormat>
  <Paragraphs>456</Paragraphs>
  <Slides>44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ＭＳ Ｐゴシック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CSC 309: Artificial Intelligence </vt:lpstr>
      <vt:lpstr>Week 2: Search</vt:lpstr>
      <vt:lpstr>                   Week 2: Outline </vt:lpstr>
      <vt:lpstr>Week 2: Introduction to Search</vt:lpstr>
      <vt:lpstr>Week 2: Why is search important in AI?</vt:lpstr>
      <vt:lpstr>Week 2: Problem Solving by Search</vt:lpstr>
      <vt:lpstr>Week 2: Problem Solving by Search</vt:lpstr>
      <vt:lpstr>Week 2: Problem Solving by Search - Example</vt:lpstr>
      <vt:lpstr>  Week 2: Problem Solving by Search - Example</vt:lpstr>
      <vt:lpstr>Week 2: Problem Solving by Search</vt:lpstr>
      <vt:lpstr>Week 1: Evaluating Search Strategies</vt:lpstr>
      <vt:lpstr>Week 2: Search Strategies/Algorithms </vt:lpstr>
      <vt:lpstr>Week 2: Breadth First Search Algorithm </vt:lpstr>
      <vt:lpstr>Week 2: Breadth-first search</vt:lpstr>
      <vt:lpstr>Week 2: Breadth-first search</vt:lpstr>
      <vt:lpstr>Week 2: Breadth-first search</vt:lpstr>
      <vt:lpstr>Week 2: Breadth-first search</vt:lpstr>
      <vt:lpstr>Week 2: Breadth-first search</vt:lpstr>
      <vt:lpstr>Week 2: Breadth-first search</vt:lpstr>
      <vt:lpstr>Week 2:Breadth First Search Algorithm </vt:lpstr>
      <vt:lpstr>Week 2: Depth First Search Algorithm</vt:lpstr>
      <vt:lpstr>Week 2: Depth-first search</vt:lpstr>
      <vt:lpstr>Week 2: Depth-first search</vt:lpstr>
      <vt:lpstr>Week 2: Depth-first search</vt:lpstr>
      <vt:lpstr>Week 2: Depth-first search</vt:lpstr>
      <vt:lpstr>Week 2: Depth-first search</vt:lpstr>
      <vt:lpstr>Week 2: Depth-first search</vt:lpstr>
      <vt:lpstr>Week 2: Depth-first search</vt:lpstr>
      <vt:lpstr>Week 2: Depth-first search</vt:lpstr>
      <vt:lpstr>Week 2: Depth-first search</vt:lpstr>
      <vt:lpstr>Week 2: Depth-first search</vt:lpstr>
      <vt:lpstr>Week 2: Depth-first search</vt:lpstr>
      <vt:lpstr>Examples</vt:lpstr>
      <vt:lpstr> Week 2: Uninformed Search Examples </vt:lpstr>
      <vt:lpstr>Week 2: Informed Search Algorithms</vt:lpstr>
      <vt:lpstr>Week 2: Best First Search Algorithm</vt:lpstr>
      <vt:lpstr>Week 2: Best First Search Algorithm</vt:lpstr>
      <vt:lpstr>Week 2: Greedy Best-First Search </vt:lpstr>
      <vt:lpstr>Week 2: Greedy Best-First Search </vt:lpstr>
      <vt:lpstr>Week 2: A* Search Algorithm</vt:lpstr>
      <vt:lpstr>Week 2: A* Search Algorithm</vt:lpstr>
      <vt:lpstr>Week 2: A* Search Algorithm</vt:lpstr>
      <vt:lpstr>PowerPoint Presentation</vt:lpstr>
      <vt:lpstr>Week2: Review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History of AI</dc:title>
  <dc:creator>Microsoft account</dc:creator>
  <cp:lastModifiedBy>Aminu Ali</cp:lastModifiedBy>
  <cp:revision>64</cp:revision>
  <dcterms:created xsi:type="dcterms:W3CDTF">2025-05-09T08:59:21Z</dcterms:created>
  <dcterms:modified xsi:type="dcterms:W3CDTF">2026-04-01T09:17:15Z</dcterms:modified>
</cp:coreProperties>
</file>